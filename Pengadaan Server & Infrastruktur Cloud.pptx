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Cooper Hewitt Bold" charset="1" panose="00000000000000000000"/>
      <p:regular r:id="rId17"/>
    </p:embeddedFont>
    <p:embeddedFont>
      <p:font typeface="Sukar Bold" charset="1" panose="02000500000000000000"/>
      <p:regular r:id="rId18"/>
    </p:embeddedFont>
    <p:embeddedFont>
      <p:font typeface="Sukar" charset="1" panose="02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DFB"/>
        </a:solidFill>
      </p:bgPr>
    </p:bg>
    <p:spTree>
      <p:nvGrpSpPr>
        <p:cNvPr id="1" name=""/>
        <p:cNvGrpSpPr/>
        <p:nvPr/>
      </p:nvGrpSpPr>
      <p:grpSpPr>
        <a:xfrm>
          <a:off x="0" y="0"/>
          <a:ext cx="0" cy="0"/>
          <a:chOff x="0" y="0"/>
          <a:chExt cx="0" cy="0"/>
        </a:xfrm>
      </p:grpSpPr>
      <p:sp>
        <p:nvSpPr>
          <p:cNvPr name="Freeform 2" id="2"/>
          <p:cNvSpPr/>
          <p:nvPr/>
        </p:nvSpPr>
        <p:spPr>
          <a:xfrm flipH="false" flipV="false" rot="0">
            <a:off x="1406466" y="5839285"/>
            <a:ext cx="1410782" cy="1172170"/>
          </a:xfrm>
          <a:custGeom>
            <a:avLst/>
            <a:gdLst/>
            <a:ahLst/>
            <a:cxnLst/>
            <a:rect r="r" b="b" t="t" l="l"/>
            <a:pathLst>
              <a:path h="1172170" w="1410782">
                <a:moveTo>
                  <a:pt x="0" y="0"/>
                </a:moveTo>
                <a:lnTo>
                  <a:pt x="1410782" y="0"/>
                </a:lnTo>
                <a:lnTo>
                  <a:pt x="1410782" y="1172170"/>
                </a:lnTo>
                <a:lnTo>
                  <a:pt x="0" y="11721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470752" y="5839285"/>
            <a:ext cx="1410782" cy="1172170"/>
          </a:xfrm>
          <a:custGeom>
            <a:avLst/>
            <a:gdLst/>
            <a:ahLst/>
            <a:cxnLst/>
            <a:rect r="r" b="b" t="t" l="l"/>
            <a:pathLst>
              <a:path h="1172170" w="1410782">
                <a:moveTo>
                  <a:pt x="1410782" y="0"/>
                </a:moveTo>
                <a:lnTo>
                  <a:pt x="0" y="0"/>
                </a:lnTo>
                <a:lnTo>
                  <a:pt x="0" y="1172170"/>
                </a:lnTo>
                <a:lnTo>
                  <a:pt x="1410782" y="1172170"/>
                </a:lnTo>
                <a:lnTo>
                  <a:pt x="141078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420870" y="1187424"/>
            <a:ext cx="8929993" cy="7939576"/>
          </a:xfrm>
          <a:custGeom>
            <a:avLst/>
            <a:gdLst/>
            <a:ahLst/>
            <a:cxnLst/>
            <a:rect r="r" b="b" t="t" l="l"/>
            <a:pathLst>
              <a:path h="7939576" w="8929993">
                <a:moveTo>
                  <a:pt x="0" y="0"/>
                </a:moveTo>
                <a:lnTo>
                  <a:pt x="8929993" y="0"/>
                </a:lnTo>
                <a:lnTo>
                  <a:pt x="8929993" y="7939576"/>
                </a:lnTo>
                <a:lnTo>
                  <a:pt x="0" y="7939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048267" y="7400056"/>
            <a:ext cx="2576774" cy="4114800"/>
          </a:xfrm>
          <a:custGeom>
            <a:avLst/>
            <a:gdLst/>
            <a:ahLst/>
            <a:cxnLst/>
            <a:rect r="r" b="b" t="t" l="l"/>
            <a:pathLst>
              <a:path h="4114800" w="2576774">
                <a:moveTo>
                  <a:pt x="0" y="0"/>
                </a:moveTo>
                <a:lnTo>
                  <a:pt x="2576773" y="0"/>
                </a:lnTo>
                <a:lnTo>
                  <a:pt x="257677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6062863" y="1187424"/>
            <a:ext cx="8929993" cy="7939576"/>
          </a:xfrm>
          <a:custGeom>
            <a:avLst/>
            <a:gdLst/>
            <a:ahLst/>
            <a:cxnLst/>
            <a:rect r="r" b="b" t="t" l="l"/>
            <a:pathLst>
              <a:path h="7939576" w="8929993">
                <a:moveTo>
                  <a:pt x="8929993" y="0"/>
                </a:moveTo>
                <a:lnTo>
                  <a:pt x="0" y="0"/>
                </a:lnTo>
                <a:lnTo>
                  <a:pt x="0" y="7939576"/>
                </a:lnTo>
                <a:lnTo>
                  <a:pt x="8929993" y="7939576"/>
                </a:lnTo>
                <a:lnTo>
                  <a:pt x="89299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337040" y="7400056"/>
            <a:ext cx="2576774" cy="4114800"/>
          </a:xfrm>
          <a:custGeom>
            <a:avLst/>
            <a:gdLst/>
            <a:ahLst/>
            <a:cxnLst/>
            <a:rect r="r" b="b" t="t" l="l"/>
            <a:pathLst>
              <a:path h="4114800" w="2576774">
                <a:moveTo>
                  <a:pt x="2576773" y="0"/>
                </a:moveTo>
                <a:lnTo>
                  <a:pt x="0" y="0"/>
                </a:lnTo>
                <a:lnTo>
                  <a:pt x="0" y="4114800"/>
                </a:lnTo>
                <a:lnTo>
                  <a:pt x="2576773" y="4114800"/>
                </a:lnTo>
                <a:lnTo>
                  <a:pt x="257677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548074" y="5809655"/>
            <a:ext cx="2576774" cy="4114800"/>
          </a:xfrm>
          <a:custGeom>
            <a:avLst/>
            <a:gdLst/>
            <a:ahLst/>
            <a:cxnLst/>
            <a:rect r="r" b="b" t="t" l="l"/>
            <a:pathLst>
              <a:path h="4114800" w="2576774">
                <a:moveTo>
                  <a:pt x="2576774" y="0"/>
                </a:moveTo>
                <a:lnTo>
                  <a:pt x="0" y="0"/>
                </a:lnTo>
                <a:lnTo>
                  <a:pt x="0" y="4114800"/>
                </a:lnTo>
                <a:lnTo>
                  <a:pt x="2576774" y="4114800"/>
                </a:lnTo>
                <a:lnTo>
                  <a:pt x="25767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7259300" y="5809655"/>
            <a:ext cx="2576774" cy="4114800"/>
          </a:xfrm>
          <a:custGeom>
            <a:avLst/>
            <a:gdLst/>
            <a:ahLst/>
            <a:cxnLst/>
            <a:rect r="r" b="b" t="t" l="l"/>
            <a:pathLst>
              <a:path h="4114800" w="2576774">
                <a:moveTo>
                  <a:pt x="0" y="0"/>
                </a:moveTo>
                <a:lnTo>
                  <a:pt x="2576774" y="0"/>
                </a:lnTo>
                <a:lnTo>
                  <a:pt x="257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526757" y="8394290"/>
            <a:ext cx="19341514" cy="4079301"/>
          </a:xfrm>
          <a:custGeom>
            <a:avLst/>
            <a:gdLst/>
            <a:ahLst/>
            <a:cxnLst/>
            <a:rect r="r" b="b" t="t" l="l"/>
            <a:pathLst>
              <a:path h="4079301" w="19341514">
                <a:moveTo>
                  <a:pt x="0" y="0"/>
                </a:moveTo>
                <a:lnTo>
                  <a:pt x="19341514" y="0"/>
                </a:lnTo>
                <a:lnTo>
                  <a:pt x="19341514" y="4079301"/>
                </a:lnTo>
                <a:lnTo>
                  <a:pt x="0" y="40793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6100124" y="2945287"/>
            <a:ext cx="6405282" cy="6055903"/>
          </a:xfrm>
          <a:custGeom>
            <a:avLst/>
            <a:gdLst/>
            <a:ahLst/>
            <a:cxnLst/>
            <a:rect r="r" b="b" t="t" l="l"/>
            <a:pathLst>
              <a:path h="6055903" w="6405282">
                <a:moveTo>
                  <a:pt x="0" y="0"/>
                </a:moveTo>
                <a:lnTo>
                  <a:pt x="6405282" y="0"/>
                </a:lnTo>
                <a:lnTo>
                  <a:pt x="6405282" y="6055903"/>
                </a:lnTo>
                <a:lnTo>
                  <a:pt x="0" y="60559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6545932" y="1501368"/>
            <a:ext cx="3354807" cy="851574"/>
          </a:xfrm>
          <a:custGeom>
            <a:avLst/>
            <a:gdLst/>
            <a:ahLst/>
            <a:cxnLst/>
            <a:rect r="r" b="b" t="t" l="l"/>
            <a:pathLst>
              <a:path h="851574" w="3354807">
                <a:moveTo>
                  <a:pt x="0" y="0"/>
                </a:moveTo>
                <a:lnTo>
                  <a:pt x="3354807" y="0"/>
                </a:lnTo>
                <a:lnTo>
                  <a:pt x="3354807" y="851574"/>
                </a:lnTo>
                <a:lnTo>
                  <a:pt x="0" y="85157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612739" y="1501368"/>
            <a:ext cx="3354807" cy="851574"/>
          </a:xfrm>
          <a:custGeom>
            <a:avLst/>
            <a:gdLst/>
            <a:ahLst/>
            <a:cxnLst/>
            <a:rect r="r" b="b" t="t" l="l"/>
            <a:pathLst>
              <a:path h="851574" w="3354807">
                <a:moveTo>
                  <a:pt x="0" y="0"/>
                </a:moveTo>
                <a:lnTo>
                  <a:pt x="3354807" y="0"/>
                </a:lnTo>
                <a:lnTo>
                  <a:pt x="3354807" y="851574"/>
                </a:lnTo>
                <a:lnTo>
                  <a:pt x="0" y="85157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4" id="14"/>
          <p:cNvGrpSpPr/>
          <p:nvPr/>
        </p:nvGrpSpPr>
        <p:grpSpPr>
          <a:xfrm rot="0">
            <a:off x="3436973" y="4519913"/>
            <a:ext cx="1605575" cy="160557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CDA"/>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3723286" y="4985583"/>
            <a:ext cx="1032951" cy="674235"/>
          </a:xfrm>
          <a:custGeom>
            <a:avLst/>
            <a:gdLst/>
            <a:ahLst/>
            <a:cxnLst/>
            <a:rect r="r" b="b" t="t" l="l"/>
            <a:pathLst>
              <a:path h="674235" w="1032951">
                <a:moveTo>
                  <a:pt x="0" y="0"/>
                </a:moveTo>
                <a:lnTo>
                  <a:pt x="1032950" y="0"/>
                </a:lnTo>
                <a:lnTo>
                  <a:pt x="1032950" y="674235"/>
                </a:lnTo>
                <a:lnTo>
                  <a:pt x="0" y="67423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8" id="18"/>
          <p:cNvGrpSpPr/>
          <p:nvPr/>
        </p:nvGrpSpPr>
        <p:grpSpPr>
          <a:xfrm rot="0">
            <a:off x="13245452" y="4519913"/>
            <a:ext cx="1605575" cy="160557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CD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13499859" y="4897041"/>
            <a:ext cx="1058101" cy="851318"/>
          </a:xfrm>
          <a:custGeom>
            <a:avLst/>
            <a:gdLst/>
            <a:ahLst/>
            <a:cxnLst/>
            <a:rect r="r" b="b" t="t" l="l"/>
            <a:pathLst>
              <a:path h="851318" w="1058101">
                <a:moveTo>
                  <a:pt x="0" y="0"/>
                </a:moveTo>
                <a:lnTo>
                  <a:pt x="1058101" y="0"/>
                </a:lnTo>
                <a:lnTo>
                  <a:pt x="1058101" y="851318"/>
                </a:lnTo>
                <a:lnTo>
                  <a:pt x="0" y="85131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2" id="22"/>
          <p:cNvSpPr txBox="true"/>
          <p:nvPr/>
        </p:nvSpPr>
        <p:spPr>
          <a:xfrm rot="0">
            <a:off x="2976103" y="819150"/>
            <a:ext cx="12653325" cy="885826"/>
          </a:xfrm>
          <a:prstGeom prst="rect">
            <a:avLst/>
          </a:prstGeom>
        </p:spPr>
        <p:txBody>
          <a:bodyPr anchor="t" rtlCol="false" tIns="0" lIns="0" bIns="0" rIns="0">
            <a:spAutoFit/>
          </a:bodyPr>
          <a:lstStyle/>
          <a:p>
            <a:pPr algn="ctr">
              <a:lnSpc>
                <a:spcPts val="6299"/>
              </a:lnSpc>
            </a:pPr>
            <a:r>
              <a:rPr lang="en-US" b="true" sz="4499">
                <a:solidFill>
                  <a:srgbClr val="000000"/>
                </a:solidFill>
                <a:latin typeface="Cooper Hewitt Bold"/>
                <a:ea typeface="Cooper Hewitt Bold"/>
                <a:cs typeface="Cooper Hewitt Bold"/>
                <a:sym typeface="Cooper Hewitt Bold"/>
              </a:rPr>
              <a:t>PENGADAAN </a:t>
            </a:r>
            <a:r>
              <a:rPr lang="en-US" b="true" sz="4499">
                <a:solidFill>
                  <a:srgbClr val="000000"/>
                </a:solidFill>
                <a:latin typeface="Cooper Hewitt Bold"/>
                <a:ea typeface="Cooper Hewitt Bold"/>
                <a:cs typeface="Cooper Hewitt Bold"/>
                <a:sym typeface="Cooper Hewitt Bold"/>
              </a:rPr>
              <a:t>SERVER &amp; INFRASTRUKTUR CLOUD </a:t>
            </a:r>
          </a:p>
        </p:txBody>
      </p:sp>
      <p:sp>
        <p:nvSpPr>
          <p:cNvPr name="TextBox 23" id="23"/>
          <p:cNvSpPr txBox="true"/>
          <p:nvPr/>
        </p:nvSpPr>
        <p:spPr>
          <a:xfrm rot="0">
            <a:off x="3595738" y="1746518"/>
            <a:ext cx="11414053" cy="606424"/>
          </a:xfrm>
          <a:prstGeom prst="rect">
            <a:avLst/>
          </a:prstGeom>
        </p:spPr>
        <p:txBody>
          <a:bodyPr anchor="t" rtlCol="false" tIns="0" lIns="0" bIns="0" rIns="0">
            <a:spAutoFit/>
          </a:bodyPr>
          <a:lstStyle/>
          <a:p>
            <a:pPr algn="ctr">
              <a:lnSpc>
                <a:spcPts val="4900"/>
              </a:lnSpc>
            </a:pPr>
            <a:r>
              <a:rPr lang="en-US" b="true" sz="3500">
                <a:solidFill>
                  <a:srgbClr val="013D62"/>
                </a:solidFill>
                <a:latin typeface="Sukar Bold"/>
                <a:ea typeface="Sukar Bold"/>
                <a:cs typeface="Sukar Bold"/>
                <a:sym typeface="Sukar Bold"/>
              </a:rPr>
              <a:t>PROJECT CLOUDSHIFT PT CIPTA RETAIL INDONES</a:t>
            </a:r>
            <a:r>
              <a:rPr lang="en-US" b="true" sz="3500">
                <a:solidFill>
                  <a:srgbClr val="F5FDFB"/>
                </a:solidFill>
                <a:latin typeface="Sukar Bold"/>
                <a:ea typeface="Sukar Bold"/>
                <a:cs typeface="Sukar Bold"/>
                <a:sym typeface="Sukar Bold"/>
              </a:rPr>
              <a:t>IA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DFB"/>
        </a:solidFill>
      </p:bgPr>
    </p:bg>
    <p:spTree>
      <p:nvGrpSpPr>
        <p:cNvPr id="1" name=""/>
        <p:cNvGrpSpPr/>
        <p:nvPr/>
      </p:nvGrpSpPr>
      <p:grpSpPr>
        <a:xfrm>
          <a:off x="0" y="0"/>
          <a:ext cx="0" cy="0"/>
          <a:chOff x="0" y="0"/>
          <a:chExt cx="0" cy="0"/>
        </a:xfrm>
      </p:grpSpPr>
      <p:sp>
        <p:nvSpPr>
          <p:cNvPr name="TextBox 2" id="2"/>
          <p:cNvSpPr txBox="true"/>
          <p:nvPr/>
        </p:nvSpPr>
        <p:spPr>
          <a:xfrm rot="0">
            <a:off x="1701027" y="999944"/>
            <a:ext cx="9853073" cy="1993967"/>
          </a:xfrm>
          <a:prstGeom prst="rect">
            <a:avLst/>
          </a:prstGeom>
        </p:spPr>
        <p:txBody>
          <a:bodyPr anchor="t" rtlCol="false" tIns="0" lIns="0" bIns="0" rIns="0">
            <a:spAutoFit/>
          </a:bodyPr>
          <a:lstStyle/>
          <a:p>
            <a:pPr algn="l">
              <a:lnSpc>
                <a:spcPts val="13999"/>
              </a:lnSpc>
            </a:pPr>
            <a:r>
              <a:rPr lang="en-US" sz="9999" b="true">
                <a:solidFill>
                  <a:srgbClr val="000000"/>
                </a:solidFill>
                <a:latin typeface="Cooper Hewitt Bold"/>
                <a:ea typeface="Cooper Hewitt Bold"/>
                <a:cs typeface="Cooper Hewitt Bold"/>
                <a:sym typeface="Cooper Hewitt Bold"/>
              </a:rPr>
              <a:t>PENDAHULUAN</a:t>
            </a:r>
          </a:p>
        </p:txBody>
      </p:sp>
      <p:sp>
        <p:nvSpPr>
          <p:cNvPr name="Freeform 3" id="3"/>
          <p:cNvSpPr/>
          <p:nvPr/>
        </p:nvSpPr>
        <p:spPr>
          <a:xfrm flipH="false" flipV="false" rot="0">
            <a:off x="11365759" y="1847369"/>
            <a:ext cx="3354807" cy="851574"/>
          </a:xfrm>
          <a:custGeom>
            <a:avLst/>
            <a:gdLst/>
            <a:ahLst/>
            <a:cxnLst/>
            <a:rect r="r" b="b" t="t" l="l"/>
            <a:pathLst>
              <a:path h="851574" w="3354807">
                <a:moveTo>
                  <a:pt x="0" y="0"/>
                </a:moveTo>
                <a:lnTo>
                  <a:pt x="3354807" y="0"/>
                </a:lnTo>
                <a:lnTo>
                  <a:pt x="3354807" y="851574"/>
                </a:lnTo>
                <a:lnTo>
                  <a:pt x="0" y="851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701027" y="3523835"/>
            <a:ext cx="12109957" cy="3743325"/>
          </a:xfrm>
          <a:prstGeom prst="rect">
            <a:avLst/>
          </a:prstGeom>
        </p:spPr>
        <p:txBody>
          <a:bodyPr anchor="t" rtlCol="false" tIns="0" lIns="0" bIns="0" rIns="0">
            <a:spAutoFit/>
          </a:bodyPr>
          <a:lstStyle/>
          <a:p>
            <a:pPr algn="just">
              <a:lnSpc>
                <a:spcPts val="4200"/>
              </a:lnSpc>
            </a:pPr>
            <a:r>
              <a:rPr lang="en-US" sz="3500" b="true">
                <a:solidFill>
                  <a:srgbClr val="013D62"/>
                </a:solidFill>
                <a:latin typeface="Sukar Bold"/>
                <a:ea typeface="Sukar Bold"/>
                <a:cs typeface="Sukar Bold"/>
                <a:sym typeface="Sukar Bold"/>
              </a:rPr>
              <a:t>PT Cipta Retail Indonesia adalah perusahaan retail dengan cabang toko yang banyak di Jawa &amp; Sumatera. Server on-premise mereka sudah berumur lebih dari 5 tahun, sering down saat traffic tinggi (promo besar), dan belum punya Disaster Recovery yang layak. Kondisi ini mengancam strategi pertumbuhan omnichannel perusahaan, sehingga dijalankan proyek pengadaan infrastruktur hybrid cloud bernama CloudShift.</a:t>
            </a:r>
          </a:p>
        </p:txBody>
      </p:sp>
      <p:sp>
        <p:nvSpPr>
          <p:cNvPr name="Freeform 5" id="5"/>
          <p:cNvSpPr/>
          <p:nvPr/>
        </p:nvSpPr>
        <p:spPr>
          <a:xfrm flipH="false" flipV="false" rot="0">
            <a:off x="15420870" y="1187424"/>
            <a:ext cx="8929993" cy="7939576"/>
          </a:xfrm>
          <a:custGeom>
            <a:avLst/>
            <a:gdLst/>
            <a:ahLst/>
            <a:cxnLst/>
            <a:rect r="r" b="b" t="t" l="l"/>
            <a:pathLst>
              <a:path h="7939576" w="8929993">
                <a:moveTo>
                  <a:pt x="0" y="0"/>
                </a:moveTo>
                <a:lnTo>
                  <a:pt x="8929993" y="0"/>
                </a:lnTo>
                <a:lnTo>
                  <a:pt x="8929993" y="7939576"/>
                </a:lnTo>
                <a:lnTo>
                  <a:pt x="0" y="7939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048267" y="7400056"/>
            <a:ext cx="2576774" cy="4114800"/>
          </a:xfrm>
          <a:custGeom>
            <a:avLst/>
            <a:gdLst/>
            <a:ahLst/>
            <a:cxnLst/>
            <a:rect r="r" b="b" t="t" l="l"/>
            <a:pathLst>
              <a:path h="4114800" w="2576774">
                <a:moveTo>
                  <a:pt x="0" y="0"/>
                </a:moveTo>
                <a:lnTo>
                  <a:pt x="2576773" y="0"/>
                </a:lnTo>
                <a:lnTo>
                  <a:pt x="257677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7259300" y="5809655"/>
            <a:ext cx="2576774" cy="4114800"/>
          </a:xfrm>
          <a:custGeom>
            <a:avLst/>
            <a:gdLst/>
            <a:ahLst/>
            <a:cxnLst/>
            <a:rect r="r" b="b" t="t" l="l"/>
            <a:pathLst>
              <a:path h="4114800" w="2576774">
                <a:moveTo>
                  <a:pt x="0" y="0"/>
                </a:moveTo>
                <a:lnTo>
                  <a:pt x="2576774" y="0"/>
                </a:lnTo>
                <a:lnTo>
                  <a:pt x="257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6399893" y="4364768"/>
            <a:ext cx="8929993" cy="7939576"/>
          </a:xfrm>
          <a:custGeom>
            <a:avLst/>
            <a:gdLst/>
            <a:ahLst/>
            <a:cxnLst/>
            <a:rect r="r" b="b" t="t" l="l"/>
            <a:pathLst>
              <a:path h="7939576" w="8929993">
                <a:moveTo>
                  <a:pt x="8929993" y="0"/>
                </a:moveTo>
                <a:lnTo>
                  <a:pt x="0" y="0"/>
                </a:lnTo>
                <a:lnTo>
                  <a:pt x="0" y="7939576"/>
                </a:lnTo>
                <a:lnTo>
                  <a:pt x="8929993" y="7939576"/>
                </a:lnTo>
                <a:lnTo>
                  <a:pt x="89299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483837" y="4229891"/>
            <a:ext cx="1410782" cy="1172170"/>
          </a:xfrm>
          <a:custGeom>
            <a:avLst/>
            <a:gdLst/>
            <a:ahLst/>
            <a:cxnLst/>
            <a:rect r="r" b="b" t="t" l="l"/>
            <a:pathLst>
              <a:path h="1172170" w="1410782">
                <a:moveTo>
                  <a:pt x="0" y="0"/>
                </a:moveTo>
                <a:lnTo>
                  <a:pt x="1410782" y="0"/>
                </a:lnTo>
                <a:lnTo>
                  <a:pt x="1410782" y="1172170"/>
                </a:lnTo>
                <a:lnTo>
                  <a:pt x="0" y="11721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26757" y="8725081"/>
            <a:ext cx="19341514" cy="4079301"/>
          </a:xfrm>
          <a:custGeom>
            <a:avLst/>
            <a:gdLst/>
            <a:ahLst/>
            <a:cxnLst/>
            <a:rect r="r" b="b" t="t" l="l"/>
            <a:pathLst>
              <a:path h="4079301" w="19341514">
                <a:moveTo>
                  <a:pt x="0" y="0"/>
                </a:moveTo>
                <a:lnTo>
                  <a:pt x="19341514" y="0"/>
                </a:lnTo>
                <a:lnTo>
                  <a:pt x="19341514" y="4079301"/>
                </a:lnTo>
                <a:lnTo>
                  <a:pt x="0" y="40793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DFB"/>
        </a:solidFill>
      </p:bgPr>
    </p:bg>
    <p:spTree>
      <p:nvGrpSpPr>
        <p:cNvPr id="1" name=""/>
        <p:cNvGrpSpPr/>
        <p:nvPr/>
      </p:nvGrpSpPr>
      <p:grpSpPr>
        <a:xfrm>
          <a:off x="0" y="0"/>
          <a:ext cx="0" cy="0"/>
          <a:chOff x="0" y="0"/>
          <a:chExt cx="0" cy="0"/>
        </a:xfrm>
      </p:grpSpPr>
      <p:grpSp>
        <p:nvGrpSpPr>
          <p:cNvPr name="Group 2" id="2"/>
          <p:cNvGrpSpPr/>
          <p:nvPr/>
        </p:nvGrpSpPr>
        <p:grpSpPr>
          <a:xfrm rot="0">
            <a:off x="8686685" y="3932059"/>
            <a:ext cx="10550526" cy="5326241"/>
            <a:chOff x="0" y="0"/>
            <a:chExt cx="2778739" cy="1402796"/>
          </a:xfrm>
        </p:grpSpPr>
        <p:sp>
          <p:nvSpPr>
            <p:cNvPr name="Freeform 3" id="3"/>
            <p:cNvSpPr/>
            <p:nvPr/>
          </p:nvSpPr>
          <p:spPr>
            <a:xfrm flipH="false" flipV="false" rot="0">
              <a:off x="0" y="0"/>
              <a:ext cx="2778739" cy="1402796"/>
            </a:xfrm>
            <a:custGeom>
              <a:avLst/>
              <a:gdLst/>
              <a:ahLst/>
              <a:cxnLst/>
              <a:rect r="r" b="b" t="t" l="l"/>
              <a:pathLst>
                <a:path h="1402796" w="2778739">
                  <a:moveTo>
                    <a:pt x="58704" y="0"/>
                  </a:moveTo>
                  <a:lnTo>
                    <a:pt x="2720036" y="0"/>
                  </a:lnTo>
                  <a:cubicBezTo>
                    <a:pt x="2752457" y="0"/>
                    <a:pt x="2778739" y="26282"/>
                    <a:pt x="2778739" y="58704"/>
                  </a:cubicBezTo>
                  <a:lnTo>
                    <a:pt x="2778739" y="1344092"/>
                  </a:lnTo>
                  <a:cubicBezTo>
                    <a:pt x="2778739" y="1376514"/>
                    <a:pt x="2752457" y="1402796"/>
                    <a:pt x="2720036" y="1402796"/>
                  </a:cubicBezTo>
                  <a:lnTo>
                    <a:pt x="58704" y="1402796"/>
                  </a:lnTo>
                  <a:cubicBezTo>
                    <a:pt x="26282" y="1402796"/>
                    <a:pt x="0" y="1376514"/>
                    <a:pt x="0" y="1344092"/>
                  </a:cubicBezTo>
                  <a:lnTo>
                    <a:pt x="0" y="58704"/>
                  </a:lnTo>
                  <a:cubicBezTo>
                    <a:pt x="0" y="26282"/>
                    <a:pt x="26282" y="0"/>
                    <a:pt x="58704" y="0"/>
                  </a:cubicBezTo>
                  <a:close/>
                </a:path>
              </a:pathLst>
            </a:custGeom>
            <a:solidFill>
              <a:srgbClr val="013D62"/>
            </a:solidFill>
          </p:spPr>
        </p:sp>
        <p:sp>
          <p:nvSpPr>
            <p:cNvPr name="TextBox 4" id="4"/>
            <p:cNvSpPr txBox="true"/>
            <p:nvPr/>
          </p:nvSpPr>
          <p:spPr>
            <a:xfrm>
              <a:off x="0" y="-38100"/>
              <a:ext cx="2778739" cy="1440896"/>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1834421" y="2007262"/>
            <a:ext cx="3354807" cy="851574"/>
          </a:xfrm>
          <a:custGeom>
            <a:avLst/>
            <a:gdLst/>
            <a:ahLst/>
            <a:cxnLst/>
            <a:rect r="r" b="b" t="t" l="l"/>
            <a:pathLst>
              <a:path h="851574" w="3354807">
                <a:moveTo>
                  <a:pt x="0" y="0"/>
                </a:moveTo>
                <a:lnTo>
                  <a:pt x="3354807" y="0"/>
                </a:lnTo>
                <a:lnTo>
                  <a:pt x="3354807" y="851574"/>
                </a:lnTo>
                <a:lnTo>
                  <a:pt x="0" y="851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45373" y="5425923"/>
            <a:ext cx="6593760" cy="6765985"/>
          </a:xfrm>
          <a:custGeom>
            <a:avLst/>
            <a:gdLst/>
            <a:ahLst/>
            <a:cxnLst/>
            <a:rect r="r" b="b" t="t" l="l"/>
            <a:pathLst>
              <a:path h="6765985" w="6593760">
                <a:moveTo>
                  <a:pt x="0" y="0"/>
                </a:moveTo>
                <a:lnTo>
                  <a:pt x="6593759" y="0"/>
                </a:lnTo>
                <a:lnTo>
                  <a:pt x="6593759" y="6765985"/>
                </a:lnTo>
                <a:lnTo>
                  <a:pt x="0" y="67659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7" id="7"/>
          <p:cNvSpPr txBox="true"/>
          <p:nvPr/>
        </p:nvSpPr>
        <p:spPr>
          <a:xfrm rot="0">
            <a:off x="1750747" y="1251949"/>
            <a:ext cx="7798627" cy="2171700"/>
          </a:xfrm>
          <a:prstGeom prst="rect">
            <a:avLst/>
          </a:prstGeom>
        </p:spPr>
        <p:txBody>
          <a:bodyPr anchor="t" rtlCol="false" tIns="0" lIns="0" bIns="0" rIns="0">
            <a:spAutoFit/>
          </a:bodyPr>
          <a:lstStyle/>
          <a:p>
            <a:pPr algn="l">
              <a:lnSpc>
                <a:spcPts val="7800"/>
              </a:lnSpc>
            </a:pPr>
            <a:r>
              <a:rPr lang="en-US" sz="6500" b="true">
                <a:solidFill>
                  <a:srgbClr val="000000"/>
                </a:solidFill>
                <a:latin typeface="Cooper Hewitt Bold"/>
                <a:ea typeface="Cooper Hewitt Bold"/>
                <a:cs typeface="Cooper Hewitt Bold"/>
                <a:sym typeface="Cooper Hewitt Bold"/>
              </a:rPr>
              <a:t>ANALISIS PROYEK &amp; BUSINESS CASE</a:t>
            </a:r>
          </a:p>
        </p:txBody>
      </p:sp>
      <p:sp>
        <p:nvSpPr>
          <p:cNvPr name="TextBox 8" id="8"/>
          <p:cNvSpPr txBox="true"/>
          <p:nvPr/>
        </p:nvSpPr>
        <p:spPr>
          <a:xfrm rot="0">
            <a:off x="9549374" y="4299654"/>
            <a:ext cx="8197237" cy="4581525"/>
          </a:xfrm>
          <a:prstGeom prst="rect">
            <a:avLst/>
          </a:prstGeom>
        </p:spPr>
        <p:txBody>
          <a:bodyPr anchor="t" rtlCol="false" tIns="0" lIns="0" bIns="0" rIns="0">
            <a:spAutoFit/>
          </a:bodyPr>
          <a:lstStyle/>
          <a:p>
            <a:pPr algn="just">
              <a:lnSpc>
                <a:spcPts val="3600"/>
              </a:lnSpc>
            </a:pPr>
            <a:r>
              <a:rPr lang="en-US" sz="3000">
                <a:solidFill>
                  <a:srgbClr val="F5FDFB"/>
                </a:solidFill>
                <a:latin typeface="Sukar"/>
                <a:ea typeface="Sukar"/>
                <a:cs typeface="Sukar"/>
                <a:sym typeface="Sukar"/>
              </a:rPr>
              <a:t>Proyek diotorisasi dengan anggaran Rp1,2 miliar selama 24 minggu, bertujuan mendukung ekspansi omnichannel lewat infrastruktur yang lebih andal dan scalable. Dari sisi kelayakan, payback period diperkirakan 2,67 tahun dengan ROI 87,5% dalam 5 tahun, sehingga proyek dinyatakan layak dilanjutkan. Delapan stakeholder dipetakan lewat Power/Interest Grid untuk menentukan siapa yang perlu dikelola intensif (CIO, tim IT internal) dan siapa yang cukup diinformasikan (manajer toko, staff kasir).</a:t>
            </a:r>
          </a:p>
        </p:txBody>
      </p:sp>
      <p:sp>
        <p:nvSpPr>
          <p:cNvPr name="Freeform 9" id="9"/>
          <p:cNvSpPr/>
          <p:nvPr/>
        </p:nvSpPr>
        <p:spPr>
          <a:xfrm flipH="true" flipV="false" rot="0">
            <a:off x="16435525" y="-2208404"/>
            <a:ext cx="6770823" cy="6019878"/>
          </a:xfrm>
          <a:custGeom>
            <a:avLst/>
            <a:gdLst/>
            <a:ahLst/>
            <a:cxnLst/>
            <a:rect r="r" b="b" t="t" l="l"/>
            <a:pathLst>
              <a:path h="6019878" w="6770823">
                <a:moveTo>
                  <a:pt x="6770823" y="0"/>
                </a:moveTo>
                <a:lnTo>
                  <a:pt x="0" y="0"/>
                </a:lnTo>
                <a:lnTo>
                  <a:pt x="0" y="6019878"/>
                </a:lnTo>
                <a:lnTo>
                  <a:pt x="6770823" y="6019878"/>
                </a:lnTo>
                <a:lnTo>
                  <a:pt x="677082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6308878" y="4253753"/>
            <a:ext cx="1410782" cy="1172170"/>
          </a:xfrm>
          <a:custGeom>
            <a:avLst/>
            <a:gdLst/>
            <a:ahLst/>
            <a:cxnLst/>
            <a:rect r="r" b="b" t="t" l="l"/>
            <a:pathLst>
              <a:path h="1172170" w="1410782">
                <a:moveTo>
                  <a:pt x="0" y="0"/>
                </a:moveTo>
                <a:lnTo>
                  <a:pt x="1410782" y="0"/>
                </a:lnTo>
                <a:lnTo>
                  <a:pt x="1410782" y="1172170"/>
                </a:lnTo>
                <a:lnTo>
                  <a:pt x="0" y="11721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DFB"/>
        </a:solidFill>
      </p:bgPr>
    </p:bg>
    <p:spTree>
      <p:nvGrpSpPr>
        <p:cNvPr id="1" name=""/>
        <p:cNvGrpSpPr/>
        <p:nvPr/>
      </p:nvGrpSpPr>
      <p:grpSpPr>
        <a:xfrm>
          <a:off x="0" y="0"/>
          <a:ext cx="0" cy="0"/>
          <a:chOff x="0" y="0"/>
          <a:chExt cx="0" cy="0"/>
        </a:xfrm>
      </p:grpSpPr>
      <p:grpSp>
        <p:nvGrpSpPr>
          <p:cNvPr name="Group 2" id="2"/>
          <p:cNvGrpSpPr/>
          <p:nvPr/>
        </p:nvGrpSpPr>
        <p:grpSpPr>
          <a:xfrm rot="0">
            <a:off x="1138155" y="4112827"/>
            <a:ext cx="5721631" cy="4197965"/>
            <a:chOff x="0" y="0"/>
            <a:chExt cx="1506932" cy="1105637"/>
          </a:xfrm>
        </p:grpSpPr>
        <p:sp>
          <p:nvSpPr>
            <p:cNvPr name="Freeform 3" id="3"/>
            <p:cNvSpPr/>
            <p:nvPr/>
          </p:nvSpPr>
          <p:spPr>
            <a:xfrm flipH="false" flipV="false" rot="0">
              <a:off x="0" y="0"/>
              <a:ext cx="1506932" cy="1105637"/>
            </a:xfrm>
            <a:custGeom>
              <a:avLst/>
              <a:gdLst/>
              <a:ahLst/>
              <a:cxnLst/>
              <a:rect r="r" b="b" t="t" l="l"/>
              <a:pathLst>
                <a:path h="1105637" w="1506932">
                  <a:moveTo>
                    <a:pt x="54124" y="0"/>
                  </a:moveTo>
                  <a:lnTo>
                    <a:pt x="1452808" y="0"/>
                  </a:lnTo>
                  <a:cubicBezTo>
                    <a:pt x="1467162" y="0"/>
                    <a:pt x="1480929" y="5702"/>
                    <a:pt x="1491079" y="15853"/>
                  </a:cubicBezTo>
                  <a:cubicBezTo>
                    <a:pt x="1501229" y="26003"/>
                    <a:pt x="1506932" y="39769"/>
                    <a:pt x="1506932" y="54124"/>
                  </a:cubicBezTo>
                  <a:lnTo>
                    <a:pt x="1506932" y="1051513"/>
                  </a:lnTo>
                  <a:cubicBezTo>
                    <a:pt x="1506932" y="1065867"/>
                    <a:pt x="1501229" y="1079634"/>
                    <a:pt x="1491079" y="1089784"/>
                  </a:cubicBezTo>
                  <a:cubicBezTo>
                    <a:pt x="1480929" y="1099934"/>
                    <a:pt x="1467162" y="1105637"/>
                    <a:pt x="1452808" y="1105637"/>
                  </a:cubicBezTo>
                  <a:lnTo>
                    <a:pt x="54124" y="1105637"/>
                  </a:lnTo>
                  <a:cubicBezTo>
                    <a:pt x="24232" y="1105637"/>
                    <a:pt x="0" y="1081405"/>
                    <a:pt x="0" y="1051513"/>
                  </a:cubicBezTo>
                  <a:lnTo>
                    <a:pt x="0" y="54124"/>
                  </a:lnTo>
                  <a:cubicBezTo>
                    <a:pt x="0" y="24232"/>
                    <a:pt x="24232" y="0"/>
                    <a:pt x="54124" y="0"/>
                  </a:cubicBezTo>
                  <a:close/>
                </a:path>
              </a:pathLst>
            </a:custGeom>
            <a:solidFill>
              <a:srgbClr val="013D62"/>
            </a:solidFill>
            <a:ln cap="rnd">
              <a:noFill/>
              <a:prstDash val="solid"/>
              <a:round/>
            </a:ln>
          </p:spPr>
        </p:sp>
        <p:sp>
          <p:nvSpPr>
            <p:cNvPr name="TextBox 4" id="4"/>
            <p:cNvSpPr txBox="true"/>
            <p:nvPr/>
          </p:nvSpPr>
          <p:spPr>
            <a:xfrm>
              <a:off x="0" y="-38100"/>
              <a:ext cx="1506932" cy="114373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029473" y="-785238"/>
            <a:ext cx="6992890" cy="11857477"/>
            <a:chOff x="0" y="0"/>
            <a:chExt cx="1841749" cy="3122957"/>
          </a:xfrm>
        </p:grpSpPr>
        <p:sp>
          <p:nvSpPr>
            <p:cNvPr name="Freeform 6" id="6"/>
            <p:cNvSpPr/>
            <p:nvPr/>
          </p:nvSpPr>
          <p:spPr>
            <a:xfrm flipH="false" flipV="false" rot="0">
              <a:off x="0" y="0"/>
              <a:ext cx="1841749" cy="3122957"/>
            </a:xfrm>
            <a:custGeom>
              <a:avLst/>
              <a:gdLst/>
              <a:ahLst/>
              <a:cxnLst/>
              <a:rect r="r" b="b" t="t" l="l"/>
              <a:pathLst>
                <a:path h="3122957" w="1841749">
                  <a:moveTo>
                    <a:pt x="0" y="0"/>
                  </a:moveTo>
                  <a:lnTo>
                    <a:pt x="1841749" y="0"/>
                  </a:lnTo>
                  <a:lnTo>
                    <a:pt x="1841749" y="3122957"/>
                  </a:lnTo>
                  <a:lnTo>
                    <a:pt x="0" y="3122957"/>
                  </a:lnTo>
                  <a:close/>
                </a:path>
              </a:pathLst>
            </a:custGeom>
            <a:solidFill>
              <a:srgbClr val="BCDCDA"/>
            </a:solidFill>
          </p:spPr>
        </p:sp>
        <p:sp>
          <p:nvSpPr>
            <p:cNvPr name="TextBox 7" id="7"/>
            <p:cNvSpPr txBox="true"/>
            <p:nvPr/>
          </p:nvSpPr>
          <p:spPr>
            <a:xfrm>
              <a:off x="0" y="-38100"/>
              <a:ext cx="1841749" cy="316105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865296" y="4112827"/>
            <a:ext cx="5721631" cy="4197965"/>
            <a:chOff x="0" y="0"/>
            <a:chExt cx="1506932" cy="1105637"/>
          </a:xfrm>
        </p:grpSpPr>
        <p:sp>
          <p:nvSpPr>
            <p:cNvPr name="Freeform 9" id="9"/>
            <p:cNvSpPr/>
            <p:nvPr/>
          </p:nvSpPr>
          <p:spPr>
            <a:xfrm flipH="false" flipV="false" rot="0">
              <a:off x="0" y="0"/>
              <a:ext cx="1506932" cy="1105637"/>
            </a:xfrm>
            <a:custGeom>
              <a:avLst/>
              <a:gdLst/>
              <a:ahLst/>
              <a:cxnLst/>
              <a:rect r="r" b="b" t="t" l="l"/>
              <a:pathLst>
                <a:path h="1105637" w="1506932">
                  <a:moveTo>
                    <a:pt x="54124" y="0"/>
                  </a:moveTo>
                  <a:lnTo>
                    <a:pt x="1452808" y="0"/>
                  </a:lnTo>
                  <a:cubicBezTo>
                    <a:pt x="1467162" y="0"/>
                    <a:pt x="1480929" y="5702"/>
                    <a:pt x="1491079" y="15853"/>
                  </a:cubicBezTo>
                  <a:cubicBezTo>
                    <a:pt x="1501229" y="26003"/>
                    <a:pt x="1506932" y="39769"/>
                    <a:pt x="1506932" y="54124"/>
                  </a:cubicBezTo>
                  <a:lnTo>
                    <a:pt x="1506932" y="1051513"/>
                  </a:lnTo>
                  <a:cubicBezTo>
                    <a:pt x="1506932" y="1065867"/>
                    <a:pt x="1501229" y="1079634"/>
                    <a:pt x="1491079" y="1089784"/>
                  </a:cubicBezTo>
                  <a:cubicBezTo>
                    <a:pt x="1480929" y="1099934"/>
                    <a:pt x="1467162" y="1105637"/>
                    <a:pt x="1452808" y="1105637"/>
                  </a:cubicBezTo>
                  <a:lnTo>
                    <a:pt x="54124" y="1105637"/>
                  </a:lnTo>
                  <a:cubicBezTo>
                    <a:pt x="24232" y="1105637"/>
                    <a:pt x="0" y="1081405"/>
                    <a:pt x="0" y="1051513"/>
                  </a:cubicBezTo>
                  <a:lnTo>
                    <a:pt x="0" y="54124"/>
                  </a:lnTo>
                  <a:cubicBezTo>
                    <a:pt x="0" y="24232"/>
                    <a:pt x="24232" y="0"/>
                    <a:pt x="54124" y="0"/>
                  </a:cubicBezTo>
                  <a:close/>
                </a:path>
              </a:pathLst>
            </a:custGeom>
            <a:solidFill>
              <a:srgbClr val="013D62"/>
            </a:solidFill>
            <a:ln cap="rnd">
              <a:noFill/>
              <a:prstDash val="solid"/>
              <a:round/>
            </a:ln>
          </p:spPr>
        </p:sp>
        <p:sp>
          <p:nvSpPr>
            <p:cNvPr name="TextBox 10" id="10"/>
            <p:cNvSpPr txBox="true"/>
            <p:nvPr/>
          </p:nvSpPr>
          <p:spPr>
            <a:xfrm>
              <a:off x="0" y="-38100"/>
              <a:ext cx="1506932" cy="114373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4262603" y="4154409"/>
            <a:ext cx="3297326" cy="4114800"/>
          </a:xfrm>
          <a:custGeom>
            <a:avLst/>
            <a:gdLst/>
            <a:ahLst/>
            <a:cxnLst/>
            <a:rect r="r" b="b" t="t" l="l"/>
            <a:pathLst>
              <a:path h="4114800" w="3297326">
                <a:moveTo>
                  <a:pt x="0" y="0"/>
                </a:moveTo>
                <a:lnTo>
                  <a:pt x="3297326" y="0"/>
                </a:lnTo>
                <a:lnTo>
                  <a:pt x="329732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1368382" y="1483175"/>
            <a:ext cx="10134198" cy="1362075"/>
          </a:xfrm>
          <a:prstGeom prst="rect">
            <a:avLst/>
          </a:prstGeom>
        </p:spPr>
        <p:txBody>
          <a:bodyPr anchor="t" rtlCol="false" tIns="0" lIns="0" bIns="0" rIns="0">
            <a:spAutoFit/>
          </a:bodyPr>
          <a:lstStyle/>
          <a:p>
            <a:pPr algn="l">
              <a:lnSpc>
                <a:spcPts val="9000"/>
              </a:lnSpc>
            </a:pPr>
            <a:r>
              <a:rPr lang="en-US" sz="7500" b="true">
                <a:solidFill>
                  <a:srgbClr val="000000"/>
                </a:solidFill>
                <a:latin typeface="Cooper Hewitt Bold"/>
                <a:ea typeface="Cooper Hewitt Bold"/>
                <a:cs typeface="Cooper Hewitt Bold"/>
                <a:sym typeface="Cooper Hewitt Bold"/>
              </a:rPr>
              <a:t>RUANG LINGKUP</a:t>
            </a:r>
          </a:p>
        </p:txBody>
      </p:sp>
      <p:sp>
        <p:nvSpPr>
          <p:cNvPr name="TextBox 13" id="13"/>
          <p:cNvSpPr txBox="true"/>
          <p:nvPr/>
        </p:nvSpPr>
        <p:spPr>
          <a:xfrm rot="0">
            <a:off x="1704809" y="4560502"/>
            <a:ext cx="4500444" cy="3209925"/>
          </a:xfrm>
          <a:prstGeom prst="rect">
            <a:avLst/>
          </a:prstGeom>
        </p:spPr>
        <p:txBody>
          <a:bodyPr anchor="t" rtlCol="false" tIns="0" lIns="0" bIns="0" rIns="0">
            <a:spAutoFit/>
          </a:bodyPr>
          <a:lstStyle/>
          <a:p>
            <a:pPr algn="l">
              <a:lnSpc>
                <a:spcPts val="4200"/>
              </a:lnSpc>
            </a:pPr>
            <a:r>
              <a:rPr lang="en-US" sz="3500">
                <a:solidFill>
                  <a:srgbClr val="F5FDFB"/>
                </a:solidFill>
                <a:latin typeface="Sukar"/>
                <a:ea typeface="Sukar"/>
                <a:cs typeface="Sukar"/>
                <a:sym typeface="Sukar"/>
              </a:rPr>
              <a:t>Ruang lingkup proyek mencakup pengadaan server &amp; cloud, migrasi ERP/POS/e-commerce, serta setup Disaster Recovery. </a:t>
            </a:r>
          </a:p>
        </p:txBody>
      </p:sp>
      <p:sp>
        <p:nvSpPr>
          <p:cNvPr name="TextBox 14" id="14"/>
          <p:cNvSpPr txBox="true"/>
          <p:nvPr/>
        </p:nvSpPr>
        <p:spPr>
          <a:xfrm rot="0">
            <a:off x="8695208" y="4690605"/>
            <a:ext cx="4057178" cy="2733675"/>
          </a:xfrm>
          <a:prstGeom prst="rect">
            <a:avLst/>
          </a:prstGeom>
        </p:spPr>
        <p:txBody>
          <a:bodyPr anchor="t" rtlCol="false" tIns="0" lIns="0" bIns="0" rIns="0">
            <a:spAutoFit/>
          </a:bodyPr>
          <a:lstStyle/>
          <a:p>
            <a:pPr algn="just">
              <a:lnSpc>
                <a:spcPts val="3115"/>
              </a:lnSpc>
            </a:pPr>
            <a:r>
              <a:rPr lang="en-US" sz="2596">
                <a:solidFill>
                  <a:srgbClr val="F5FDFB"/>
                </a:solidFill>
                <a:latin typeface="Sukar"/>
                <a:ea typeface="Sukar"/>
                <a:cs typeface="Sukar"/>
                <a:sym typeface="Sukar"/>
              </a:rPr>
              <a:t>Yang bukan bagian pekerjaan: pengembangan ulang aplikasi, pengadaan perangkat kasir, dan perombakan jaringan tiap cabang. Batasan ini penting supaya tidak terjadi scope creep selama proyek berjalan.</a:t>
            </a:r>
          </a:p>
        </p:txBody>
      </p:sp>
      <p:sp>
        <p:nvSpPr>
          <p:cNvPr name="Freeform 15" id="15"/>
          <p:cNvSpPr/>
          <p:nvPr/>
        </p:nvSpPr>
        <p:spPr>
          <a:xfrm flipH="false" flipV="false" rot="0">
            <a:off x="13904493" y="1702250"/>
            <a:ext cx="3354807" cy="851574"/>
          </a:xfrm>
          <a:custGeom>
            <a:avLst/>
            <a:gdLst/>
            <a:ahLst/>
            <a:cxnLst/>
            <a:rect r="r" b="b" t="t" l="l"/>
            <a:pathLst>
              <a:path h="851574" w="3354807">
                <a:moveTo>
                  <a:pt x="0" y="0"/>
                </a:moveTo>
                <a:lnTo>
                  <a:pt x="3354807" y="0"/>
                </a:lnTo>
                <a:lnTo>
                  <a:pt x="3354807" y="851574"/>
                </a:lnTo>
                <a:lnTo>
                  <a:pt x="0" y="8515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13D62"/>
        </a:solidFill>
      </p:bgPr>
    </p:bg>
    <p:spTree>
      <p:nvGrpSpPr>
        <p:cNvPr id="1" name=""/>
        <p:cNvGrpSpPr/>
        <p:nvPr/>
      </p:nvGrpSpPr>
      <p:grpSpPr>
        <a:xfrm>
          <a:off x="0" y="0"/>
          <a:ext cx="0" cy="0"/>
          <a:chOff x="0" y="0"/>
          <a:chExt cx="0" cy="0"/>
        </a:xfrm>
      </p:grpSpPr>
      <p:grpSp>
        <p:nvGrpSpPr>
          <p:cNvPr name="Group 2" id="2"/>
          <p:cNvGrpSpPr/>
          <p:nvPr/>
        </p:nvGrpSpPr>
        <p:grpSpPr>
          <a:xfrm rot="0">
            <a:off x="-1555160" y="-514350"/>
            <a:ext cx="21398321" cy="3086100"/>
            <a:chOff x="0" y="0"/>
            <a:chExt cx="5635772" cy="812800"/>
          </a:xfrm>
        </p:grpSpPr>
        <p:sp>
          <p:nvSpPr>
            <p:cNvPr name="Freeform 3" id="3"/>
            <p:cNvSpPr/>
            <p:nvPr/>
          </p:nvSpPr>
          <p:spPr>
            <a:xfrm flipH="false" flipV="false" rot="0">
              <a:off x="0" y="0"/>
              <a:ext cx="5635772" cy="812800"/>
            </a:xfrm>
            <a:custGeom>
              <a:avLst/>
              <a:gdLst/>
              <a:ahLst/>
              <a:cxnLst/>
              <a:rect r="r" b="b" t="t" l="l"/>
              <a:pathLst>
                <a:path h="812800" w="5635772">
                  <a:moveTo>
                    <a:pt x="0" y="0"/>
                  </a:moveTo>
                  <a:lnTo>
                    <a:pt x="5635772" y="0"/>
                  </a:lnTo>
                  <a:lnTo>
                    <a:pt x="5635772" y="812800"/>
                  </a:lnTo>
                  <a:lnTo>
                    <a:pt x="0" y="812800"/>
                  </a:lnTo>
                  <a:close/>
                </a:path>
              </a:pathLst>
            </a:custGeom>
            <a:solidFill>
              <a:srgbClr val="F5FDFB"/>
            </a:solidFill>
          </p:spPr>
        </p:sp>
        <p:sp>
          <p:nvSpPr>
            <p:cNvPr name="TextBox 4" id="4"/>
            <p:cNvSpPr txBox="true"/>
            <p:nvPr/>
          </p:nvSpPr>
          <p:spPr>
            <a:xfrm>
              <a:off x="0" y="-38100"/>
              <a:ext cx="5635772"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727038"/>
            <a:ext cx="9802049" cy="5324192"/>
            <a:chOff x="0" y="0"/>
            <a:chExt cx="2581610" cy="1402256"/>
          </a:xfrm>
        </p:grpSpPr>
        <p:sp>
          <p:nvSpPr>
            <p:cNvPr name="Freeform 6" id="6"/>
            <p:cNvSpPr/>
            <p:nvPr/>
          </p:nvSpPr>
          <p:spPr>
            <a:xfrm flipH="false" flipV="false" rot="0">
              <a:off x="0" y="0"/>
              <a:ext cx="2581609" cy="1402256"/>
            </a:xfrm>
            <a:custGeom>
              <a:avLst/>
              <a:gdLst/>
              <a:ahLst/>
              <a:cxnLst/>
              <a:rect r="r" b="b" t="t" l="l"/>
              <a:pathLst>
                <a:path h="1402256" w="2581609">
                  <a:moveTo>
                    <a:pt x="47390" y="0"/>
                  </a:moveTo>
                  <a:lnTo>
                    <a:pt x="2534220" y="0"/>
                  </a:lnTo>
                  <a:cubicBezTo>
                    <a:pt x="2560392" y="0"/>
                    <a:pt x="2581609" y="21217"/>
                    <a:pt x="2581609" y="47390"/>
                  </a:cubicBezTo>
                  <a:lnTo>
                    <a:pt x="2581609" y="1354867"/>
                  </a:lnTo>
                  <a:cubicBezTo>
                    <a:pt x="2581609" y="1381039"/>
                    <a:pt x="2560392" y="1402256"/>
                    <a:pt x="2534220" y="1402256"/>
                  </a:cubicBezTo>
                  <a:lnTo>
                    <a:pt x="47390" y="1402256"/>
                  </a:lnTo>
                  <a:cubicBezTo>
                    <a:pt x="34821" y="1402256"/>
                    <a:pt x="22767" y="1397264"/>
                    <a:pt x="13880" y="1388376"/>
                  </a:cubicBezTo>
                  <a:cubicBezTo>
                    <a:pt x="4993" y="1379489"/>
                    <a:pt x="0" y="1367435"/>
                    <a:pt x="0" y="1354867"/>
                  </a:cubicBezTo>
                  <a:lnTo>
                    <a:pt x="0" y="47390"/>
                  </a:lnTo>
                  <a:cubicBezTo>
                    <a:pt x="0" y="21217"/>
                    <a:pt x="21217" y="0"/>
                    <a:pt x="47390" y="0"/>
                  </a:cubicBezTo>
                  <a:close/>
                </a:path>
              </a:pathLst>
            </a:custGeom>
            <a:solidFill>
              <a:srgbClr val="BCDCDA"/>
            </a:solidFill>
          </p:spPr>
        </p:sp>
        <p:sp>
          <p:nvSpPr>
            <p:cNvPr name="TextBox 7" id="7"/>
            <p:cNvSpPr txBox="true"/>
            <p:nvPr/>
          </p:nvSpPr>
          <p:spPr>
            <a:xfrm>
              <a:off x="0" y="-38100"/>
              <a:ext cx="2581610" cy="144035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9916220" y="4006351"/>
            <a:ext cx="8229432" cy="5251949"/>
          </a:xfrm>
          <a:custGeom>
            <a:avLst/>
            <a:gdLst/>
            <a:ahLst/>
            <a:cxnLst/>
            <a:rect r="r" b="b" t="t" l="l"/>
            <a:pathLst>
              <a:path h="5251949" w="8229432">
                <a:moveTo>
                  <a:pt x="0" y="0"/>
                </a:moveTo>
                <a:lnTo>
                  <a:pt x="8229431" y="0"/>
                </a:lnTo>
                <a:lnTo>
                  <a:pt x="8229431" y="5251949"/>
                </a:lnTo>
                <a:lnTo>
                  <a:pt x="0" y="52519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1772880" y="727038"/>
            <a:ext cx="3354807" cy="851574"/>
          </a:xfrm>
          <a:custGeom>
            <a:avLst/>
            <a:gdLst/>
            <a:ahLst/>
            <a:cxnLst/>
            <a:rect r="r" b="b" t="t" l="l"/>
            <a:pathLst>
              <a:path h="851574" w="3354807">
                <a:moveTo>
                  <a:pt x="0" y="0"/>
                </a:moveTo>
                <a:lnTo>
                  <a:pt x="3354807" y="0"/>
                </a:lnTo>
                <a:lnTo>
                  <a:pt x="3354807" y="851575"/>
                </a:lnTo>
                <a:lnTo>
                  <a:pt x="0" y="851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17041312" y="-2366312"/>
            <a:ext cx="6068291" cy="5395262"/>
          </a:xfrm>
          <a:custGeom>
            <a:avLst/>
            <a:gdLst/>
            <a:ahLst/>
            <a:cxnLst/>
            <a:rect r="r" b="b" t="t" l="l"/>
            <a:pathLst>
              <a:path h="5395262" w="6068291">
                <a:moveTo>
                  <a:pt x="6068290" y="0"/>
                </a:moveTo>
                <a:lnTo>
                  <a:pt x="0" y="0"/>
                </a:lnTo>
                <a:lnTo>
                  <a:pt x="0" y="5395262"/>
                </a:lnTo>
                <a:lnTo>
                  <a:pt x="6068290" y="5395262"/>
                </a:lnTo>
                <a:lnTo>
                  <a:pt x="606829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848518" y="3420266"/>
            <a:ext cx="1410782" cy="1172170"/>
          </a:xfrm>
          <a:custGeom>
            <a:avLst/>
            <a:gdLst/>
            <a:ahLst/>
            <a:cxnLst/>
            <a:rect r="r" b="b" t="t" l="l"/>
            <a:pathLst>
              <a:path h="1172170" w="1410782">
                <a:moveTo>
                  <a:pt x="0" y="0"/>
                </a:moveTo>
                <a:lnTo>
                  <a:pt x="1410782" y="0"/>
                </a:lnTo>
                <a:lnTo>
                  <a:pt x="1410782" y="1172170"/>
                </a:lnTo>
                <a:lnTo>
                  <a:pt x="0" y="11721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291817" y="6432300"/>
            <a:ext cx="7649072" cy="2333625"/>
          </a:xfrm>
          <a:prstGeom prst="rect">
            <a:avLst/>
          </a:prstGeom>
        </p:spPr>
        <p:txBody>
          <a:bodyPr anchor="t" rtlCol="false" tIns="0" lIns="0" bIns="0" rIns="0">
            <a:spAutoFit/>
          </a:bodyPr>
          <a:lstStyle/>
          <a:p>
            <a:pPr algn="l">
              <a:lnSpc>
                <a:spcPts val="8400"/>
              </a:lnSpc>
            </a:pPr>
            <a:r>
              <a:rPr lang="en-US" sz="7000" b="true">
                <a:solidFill>
                  <a:srgbClr val="F5FDFB"/>
                </a:solidFill>
                <a:latin typeface="Cooper Hewitt Bold"/>
                <a:ea typeface="Cooper Hewitt Bold"/>
                <a:cs typeface="Cooper Hewitt Bold"/>
                <a:sym typeface="Cooper Hewitt Bold"/>
              </a:rPr>
              <a:t>METODOLOGI, JADWAL &amp; BIAYA</a:t>
            </a:r>
          </a:p>
        </p:txBody>
      </p:sp>
      <p:sp>
        <p:nvSpPr>
          <p:cNvPr name="TextBox 13" id="13"/>
          <p:cNvSpPr txBox="true"/>
          <p:nvPr/>
        </p:nvSpPr>
        <p:spPr>
          <a:xfrm rot="0">
            <a:off x="1757644" y="958053"/>
            <a:ext cx="8158576" cy="4924425"/>
          </a:xfrm>
          <a:prstGeom prst="rect">
            <a:avLst/>
          </a:prstGeom>
        </p:spPr>
        <p:txBody>
          <a:bodyPr anchor="t" rtlCol="false" tIns="0" lIns="0" bIns="0" rIns="0">
            <a:spAutoFit/>
          </a:bodyPr>
          <a:lstStyle/>
          <a:p>
            <a:pPr algn="l">
              <a:lnSpc>
                <a:spcPts val="3599"/>
              </a:lnSpc>
            </a:pPr>
            <a:r>
              <a:rPr lang="en-US" sz="2999" b="true">
                <a:solidFill>
                  <a:srgbClr val="013D62"/>
                </a:solidFill>
                <a:latin typeface="Sukar Bold"/>
                <a:ea typeface="Sukar Bold"/>
                <a:cs typeface="Sukar Bold"/>
                <a:sym typeface="Sukar Bold"/>
              </a:rPr>
              <a:t>Metodologi yang dipilih adalah Hybrid: tahap pengadaan vendor mengikuti pendekatan waterfall karena terikat proses legal dan kontrak, sementara tahap implementasi dilakukan iteratif per modul (ERP → POS → e-commerce) untuk menekan risiko kegagalan total. Total durasi proyek 24 minggu dengan jalur kritis yang tidak punya ruang tunda sama sekali. Estimasi biaya dihitung dengan metode PERT untuk 3 modul utama, ditambah kontingensi 12% (Rp144 juta) untuk mengantisipasi risiko biaya.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DFB"/>
        </a:solidFill>
      </p:bgPr>
    </p:bg>
    <p:spTree>
      <p:nvGrpSpPr>
        <p:cNvPr id="1" name=""/>
        <p:cNvGrpSpPr/>
        <p:nvPr/>
      </p:nvGrpSpPr>
      <p:grpSpPr>
        <a:xfrm>
          <a:off x="0" y="0"/>
          <a:ext cx="0" cy="0"/>
          <a:chOff x="0" y="0"/>
          <a:chExt cx="0" cy="0"/>
        </a:xfrm>
      </p:grpSpPr>
      <p:grpSp>
        <p:nvGrpSpPr>
          <p:cNvPr name="Group 2" id="2"/>
          <p:cNvGrpSpPr/>
          <p:nvPr/>
        </p:nvGrpSpPr>
        <p:grpSpPr>
          <a:xfrm rot="0">
            <a:off x="-1997826" y="6433662"/>
            <a:ext cx="22283653" cy="4664485"/>
            <a:chOff x="0" y="0"/>
            <a:chExt cx="5868946" cy="1228506"/>
          </a:xfrm>
        </p:grpSpPr>
        <p:sp>
          <p:nvSpPr>
            <p:cNvPr name="Freeform 3" id="3"/>
            <p:cNvSpPr/>
            <p:nvPr/>
          </p:nvSpPr>
          <p:spPr>
            <a:xfrm flipH="false" flipV="false" rot="0">
              <a:off x="0" y="0"/>
              <a:ext cx="5868946" cy="1228506"/>
            </a:xfrm>
            <a:custGeom>
              <a:avLst/>
              <a:gdLst/>
              <a:ahLst/>
              <a:cxnLst/>
              <a:rect r="r" b="b" t="t" l="l"/>
              <a:pathLst>
                <a:path h="1228506" w="5868946">
                  <a:moveTo>
                    <a:pt x="0" y="0"/>
                  </a:moveTo>
                  <a:lnTo>
                    <a:pt x="5868946" y="0"/>
                  </a:lnTo>
                  <a:lnTo>
                    <a:pt x="5868946" y="1228506"/>
                  </a:lnTo>
                  <a:lnTo>
                    <a:pt x="0" y="1228506"/>
                  </a:lnTo>
                  <a:close/>
                </a:path>
              </a:pathLst>
            </a:custGeom>
            <a:solidFill>
              <a:srgbClr val="F5AE9C"/>
            </a:solidFill>
          </p:spPr>
        </p:sp>
        <p:sp>
          <p:nvSpPr>
            <p:cNvPr name="TextBox 4" id="4"/>
            <p:cNvSpPr txBox="true"/>
            <p:nvPr/>
          </p:nvSpPr>
          <p:spPr>
            <a:xfrm>
              <a:off x="0" y="-38100"/>
              <a:ext cx="5868946" cy="126660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69361" y="3429487"/>
            <a:ext cx="10281742" cy="6008350"/>
            <a:chOff x="0" y="0"/>
            <a:chExt cx="2707948" cy="1582446"/>
          </a:xfrm>
        </p:grpSpPr>
        <p:sp>
          <p:nvSpPr>
            <p:cNvPr name="Freeform 6" id="6"/>
            <p:cNvSpPr/>
            <p:nvPr/>
          </p:nvSpPr>
          <p:spPr>
            <a:xfrm flipH="false" flipV="false" rot="0">
              <a:off x="0" y="0"/>
              <a:ext cx="2707948" cy="1582446"/>
            </a:xfrm>
            <a:custGeom>
              <a:avLst/>
              <a:gdLst/>
              <a:ahLst/>
              <a:cxnLst/>
              <a:rect r="r" b="b" t="t" l="l"/>
              <a:pathLst>
                <a:path h="1582446" w="2707948">
                  <a:moveTo>
                    <a:pt x="18824" y="0"/>
                  </a:moveTo>
                  <a:lnTo>
                    <a:pt x="2689124" y="0"/>
                  </a:lnTo>
                  <a:cubicBezTo>
                    <a:pt x="2694117" y="0"/>
                    <a:pt x="2698905" y="1983"/>
                    <a:pt x="2702435" y="5514"/>
                  </a:cubicBezTo>
                  <a:cubicBezTo>
                    <a:pt x="2705965" y="9044"/>
                    <a:pt x="2707948" y="13832"/>
                    <a:pt x="2707948" y="18824"/>
                  </a:cubicBezTo>
                  <a:lnTo>
                    <a:pt x="2707948" y="1563622"/>
                  </a:lnTo>
                  <a:cubicBezTo>
                    <a:pt x="2707948" y="1568614"/>
                    <a:pt x="2705965" y="1573402"/>
                    <a:pt x="2702435" y="1576933"/>
                  </a:cubicBezTo>
                  <a:cubicBezTo>
                    <a:pt x="2698905" y="1580463"/>
                    <a:pt x="2694117" y="1582446"/>
                    <a:pt x="2689124" y="1582446"/>
                  </a:cubicBezTo>
                  <a:lnTo>
                    <a:pt x="18824" y="1582446"/>
                  </a:lnTo>
                  <a:cubicBezTo>
                    <a:pt x="13832" y="1582446"/>
                    <a:pt x="9044" y="1580463"/>
                    <a:pt x="5514" y="1576933"/>
                  </a:cubicBezTo>
                  <a:cubicBezTo>
                    <a:pt x="1983" y="1573402"/>
                    <a:pt x="0" y="1568614"/>
                    <a:pt x="0" y="1563622"/>
                  </a:cubicBezTo>
                  <a:lnTo>
                    <a:pt x="0" y="18824"/>
                  </a:lnTo>
                  <a:cubicBezTo>
                    <a:pt x="0" y="13832"/>
                    <a:pt x="1983" y="9044"/>
                    <a:pt x="5514" y="5514"/>
                  </a:cubicBezTo>
                  <a:cubicBezTo>
                    <a:pt x="9044" y="1983"/>
                    <a:pt x="13832" y="0"/>
                    <a:pt x="18824" y="0"/>
                  </a:cubicBezTo>
                  <a:close/>
                </a:path>
              </a:pathLst>
            </a:custGeom>
            <a:solidFill>
              <a:srgbClr val="013D62"/>
            </a:solidFill>
          </p:spPr>
        </p:sp>
        <p:sp>
          <p:nvSpPr>
            <p:cNvPr name="TextBox 7" id="7"/>
            <p:cNvSpPr txBox="true"/>
            <p:nvPr/>
          </p:nvSpPr>
          <p:spPr>
            <a:xfrm>
              <a:off x="0" y="-38100"/>
              <a:ext cx="2707948" cy="16205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2097122" y="996926"/>
            <a:ext cx="5452424" cy="3131193"/>
          </a:xfrm>
          <a:custGeom>
            <a:avLst/>
            <a:gdLst/>
            <a:ahLst/>
            <a:cxnLst/>
            <a:rect r="r" b="b" t="t" l="l"/>
            <a:pathLst>
              <a:path h="3131193" w="5452424">
                <a:moveTo>
                  <a:pt x="0" y="0"/>
                </a:moveTo>
                <a:lnTo>
                  <a:pt x="5452424" y="0"/>
                </a:lnTo>
                <a:lnTo>
                  <a:pt x="5452424" y="3131193"/>
                </a:lnTo>
                <a:lnTo>
                  <a:pt x="0" y="31311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9" id="9"/>
          <p:cNvSpPr txBox="true"/>
          <p:nvPr/>
        </p:nvSpPr>
        <p:spPr>
          <a:xfrm rot="0">
            <a:off x="1469361" y="838200"/>
            <a:ext cx="9467203" cy="2171700"/>
          </a:xfrm>
          <a:prstGeom prst="rect">
            <a:avLst/>
          </a:prstGeom>
        </p:spPr>
        <p:txBody>
          <a:bodyPr anchor="t" rtlCol="false" tIns="0" lIns="0" bIns="0" rIns="0">
            <a:spAutoFit/>
          </a:bodyPr>
          <a:lstStyle/>
          <a:p>
            <a:pPr algn="l">
              <a:lnSpc>
                <a:spcPts val="7800"/>
              </a:lnSpc>
            </a:pPr>
            <a:r>
              <a:rPr lang="en-US" sz="6500" b="true">
                <a:solidFill>
                  <a:srgbClr val="000000"/>
                </a:solidFill>
                <a:latin typeface="Cooper Hewitt Bold"/>
                <a:ea typeface="Cooper Hewitt Bold"/>
                <a:cs typeface="Cooper Hewitt Bold"/>
                <a:sym typeface="Cooper Hewitt Bold"/>
              </a:rPr>
              <a:t>MANAJEMEN RISIKO &amp; KUALITAS</a:t>
            </a:r>
          </a:p>
        </p:txBody>
      </p:sp>
      <p:sp>
        <p:nvSpPr>
          <p:cNvPr name="TextBox 10" id="10"/>
          <p:cNvSpPr txBox="true"/>
          <p:nvPr/>
        </p:nvSpPr>
        <p:spPr>
          <a:xfrm rot="0">
            <a:off x="1971994" y="3757137"/>
            <a:ext cx="9276477" cy="5343525"/>
          </a:xfrm>
          <a:prstGeom prst="rect">
            <a:avLst/>
          </a:prstGeom>
        </p:spPr>
        <p:txBody>
          <a:bodyPr anchor="t" rtlCol="false" tIns="0" lIns="0" bIns="0" rIns="0">
            <a:spAutoFit/>
          </a:bodyPr>
          <a:lstStyle/>
          <a:p>
            <a:pPr algn="just">
              <a:lnSpc>
                <a:spcPts val="4200"/>
              </a:lnSpc>
            </a:pPr>
            <a:r>
              <a:rPr lang="en-US" sz="3500">
                <a:solidFill>
                  <a:srgbClr val="F5FDFB"/>
                </a:solidFill>
                <a:latin typeface="Sukar"/>
                <a:ea typeface="Sukar"/>
                <a:cs typeface="Sukar"/>
                <a:sym typeface="Sukar"/>
              </a:rPr>
              <a:t>Sepuluh risiko diidentifikasi dan didokumentasikan dalam Risk Register, dengan tiga risiko tertinggi adalah kegagalan migrasi data, downtime saat cutover, dan pembengkakan biaya storage. Total nilai EMV dari tiga risiko ini (Rp335 juta) ternyata melebihi kontingensi yang disiapkan, sehingga direkomendasikan menaikkan cadangan ke 15%. Dari sisi kualitas, proyek mengacu pada ISO/IEC 25010 dan ISO/IEC 27001, dengan target terukur seperti uptime ≥99,9% dan RTO/RPO yang ketat.</a:t>
            </a:r>
          </a:p>
        </p:txBody>
      </p:sp>
      <p:sp>
        <p:nvSpPr>
          <p:cNvPr name="Freeform 11" id="11"/>
          <p:cNvSpPr/>
          <p:nvPr/>
        </p:nvSpPr>
        <p:spPr>
          <a:xfrm flipH="false" flipV="false" rot="0">
            <a:off x="12097122" y="4372159"/>
            <a:ext cx="3038726" cy="771341"/>
          </a:xfrm>
          <a:custGeom>
            <a:avLst/>
            <a:gdLst/>
            <a:ahLst/>
            <a:cxnLst/>
            <a:rect r="r" b="b" t="t" l="l"/>
            <a:pathLst>
              <a:path h="771341" w="3038726">
                <a:moveTo>
                  <a:pt x="0" y="0"/>
                </a:moveTo>
                <a:lnTo>
                  <a:pt x="3038726" y="0"/>
                </a:lnTo>
                <a:lnTo>
                  <a:pt x="3038726" y="771341"/>
                </a:lnTo>
                <a:lnTo>
                  <a:pt x="0" y="7713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69361" y="8630801"/>
            <a:ext cx="3038726" cy="771341"/>
          </a:xfrm>
          <a:custGeom>
            <a:avLst/>
            <a:gdLst/>
            <a:ahLst/>
            <a:cxnLst/>
            <a:rect r="r" b="b" t="t" l="l"/>
            <a:pathLst>
              <a:path h="771341" w="3038726">
                <a:moveTo>
                  <a:pt x="0" y="0"/>
                </a:moveTo>
                <a:lnTo>
                  <a:pt x="3038726" y="0"/>
                </a:lnTo>
                <a:lnTo>
                  <a:pt x="3038726" y="771342"/>
                </a:lnTo>
                <a:lnTo>
                  <a:pt x="0" y="7713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6138764" y="4694805"/>
            <a:ext cx="1410782" cy="1172170"/>
          </a:xfrm>
          <a:custGeom>
            <a:avLst/>
            <a:gdLst/>
            <a:ahLst/>
            <a:cxnLst/>
            <a:rect r="r" b="b" t="t" l="l"/>
            <a:pathLst>
              <a:path h="1172170" w="1410782">
                <a:moveTo>
                  <a:pt x="0" y="0"/>
                </a:moveTo>
                <a:lnTo>
                  <a:pt x="1410782" y="0"/>
                </a:lnTo>
                <a:lnTo>
                  <a:pt x="1410782" y="1172171"/>
                </a:lnTo>
                <a:lnTo>
                  <a:pt x="0" y="11721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DFB"/>
        </a:solidFill>
      </p:bgPr>
    </p:bg>
    <p:spTree>
      <p:nvGrpSpPr>
        <p:cNvPr id="1" name=""/>
        <p:cNvGrpSpPr/>
        <p:nvPr/>
      </p:nvGrpSpPr>
      <p:grpSpPr>
        <a:xfrm>
          <a:off x="0" y="0"/>
          <a:ext cx="0" cy="0"/>
          <a:chOff x="0" y="0"/>
          <a:chExt cx="0" cy="0"/>
        </a:xfrm>
      </p:grpSpPr>
      <p:sp>
        <p:nvSpPr>
          <p:cNvPr name="TextBox 2" id="2"/>
          <p:cNvSpPr txBox="true"/>
          <p:nvPr/>
        </p:nvSpPr>
        <p:spPr>
          <a:xfrm rot="0">
            <a:off x="1028700" y="224364"/>
            <a:ext cx="10682236" cy="2333625"/>
          </a:xfrm>
          <a:prstGeom prst="rect">
            <a:avLst/>
          </a:prstGeom>
        </p:spPr>
        <p:txBody>
          <a:bodyPr anchor="t" rtlCol="false" tIns="0" lIns="0" bIns="0" rIns="0">
            <a:spAutoFit/>
          </a:bodyPr>
          <a:lstStyle/>
          <a:p>
            <a:pPr algn="l">
              <a:lnSpc>
                <a:spcPts val="8400"/>
              </a:lnSpc>
            </a:pPr>
            <a:r>
              <a:rPr lang="en-US" sz="7000" b="true">
                <a:solidFill>
                  <a:srgbClr val="000000"/>
                </a:solidFill>
                <a:latin typeface="Cooper Hewitt Bold"/>
                <a:ea typeface="Cooper Hewitt Bold"/>
                <a:cs typeface="Cooper Hewitt Bold"/>
                <a:sym typeface="Cooper Hewitt Bold"/>
              </a:rPr>
              <a:t>SDM, KOMUNIKASI &amp; PENGADAAN</a:t>
            </a:r>
          </a:p>
        </p:txBody>
      </p:sp>
      <p:grpSp>
        <p:nvGrpSpPr>
          <p:cNvPr name="Group 3" id="3"/>
          <p:cNvGrpSpPr/>
          <p:nvPr/>
        </p:nvGrpSpPr>
        <p:grpSpPr>
          <a:xfrm rot="0">
            <a:off x="14311329" y="-1574689"/>
            <a:ext cx="3976671" cy="13436377"/>
            <a:chOff x="0" y="0"/>
            <a:chExt cx="1047354" cy="3538799"/>
          </a:xfrm>
        </p:grpSpPr>
        <p:sp>
          <p:nvSpPr>
            <p:cNvPr name="Freeform 4" id="4"/>
            <p:cNvSpPr/>
            <p:nvPr/>
          </p:nvSpPr>
          <p:spPr>
            <a:xfrm flipH="false" flipV="false" rot="0">
              <a:off x="0" y="0"/>
              <a:ext cx="1047354" cy="3538799"/>
            </a:xfrm>
            <a:custGeom>
              <a:avLst/>
              <a:gdLst/>
              <a:ahLst/>
              <a:cxnLst/>
              <a:rect r="r" b="b" t="t" l="l"/>
              <a:pathLst>
                <a:path h="3538799" w="1047354">
                  <a:moveTo>
                    <a:pt x="155747" y="0"/>
                  </a:moveTo>
                  <a:lnTo>
                    <a:pt x="891607" y="0"/>
                  </a:lnTo>
                  <a:cubicBezTo>
                    <a:pt x="932914" y="0"/>
                    <a:pt x="972528" y="16409"/>
                    <a:pt x="1001737" y="45617"/>
                  </a:cubicBezTo>
                  <a:cubicBezTo>
                    <a:pt x="1030945" y="74825"/>
                    <a:pt x="1047354" y="114440"/>
                    <a:pt x="1047354" y="155747"/>
                  </a:cubicBezTo>
                  <a:lnTo>
                    <a:pt x="1047354" y="3383052"/>
                  </a:lnTo>
                  <a:cubicBezTo>
                    <a:pt x="1047354" y="3469068"/>
                    <a:pt x="977623" y="3538799"/>
                    <a:pt x="891607" y="3538799"/>
                  </a:cubicBezTo>
                  <a:lnTo>
                    <a:pt x="155747" y="3538799"/>
                  </a:lnTo>
                  <a:cubicBezTo>
                    <a:pt x="69730" y="3538799"/>
                    <a:pt x="0" y="3469068"/>
                    <a:pt x="0" y="3383052"/>
                  </a:cubicBezTo>
                  <a:lnTo>
                    <a:pt x="0" y="155747"/>
                  </a:lnTo>
                  <a:cubicBezTo>
                    <a:pt x="0" y="69730"/>
                    <a:pt x="69730" y="0"/>
                    <a:pt x="155747" y="0"/>
                  </a:cubicBezTo>
                  <a:close/>
                </a:path>
              </a:pathLst>
            </a:custGeom>
            <a:solidFill>
              <a:srgbClr val="013D62"/>
            </a:solidFill>
          </p:spPr>
        </p:sp>
        <p:sp>
          <p:nvSpPr>
            <p:cNvPr name="TextBox 5" id="5"/>
            <p:cNvSpPr txBox="true"/>
            <p:nvPr/>
          </p:nvSpPr>
          <p:spPr>
            <a:xfrm>
              <a:off x="0" y="-38100"/>
              <a:ext cx="1047354" cy="357689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8604" y="3880779"/>
            <a:ext cx="5690576" cy="6161056"/>
          </a:xfrm>
          <a:custGeom>
            <a:avLst/>
            <a:gdLst/>
            <a:ahLst/>
            <a:cxnLst/>
            <a:rect r="r" b="b" t="t" l="l"/>
            <a:pathLst>
              <a:path h="6161056" w="5690576">
                <a:moveTo>
                  <a:pt x="0" y="0"/>
                </a:moveTo>
                <a:lnTo>
                  <a:pt x="5690576" y="0"/>
                </a:lnTo>
                <a:lnTo>
                  <a:pt x="5690576" y="6161056"/>
                </a:lnTo>
                <a:lnTo>
                  <a:pt x="0" y="61610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15420870" y="1187424"/>
            <a:ext cx="8929993" cy="7939576"/>
          </a:xfrm>
          <a:custGeom>
            <a:avLst/>
            <a:gdLst/>
            <a:ahLst/>
            <a:cxnLst/>
            <a:rect r="r" b="b" t="t" l="l"/>
            <a:pathLst>
              <a:path h="7939576" w="8929993">
                <a:moveTo>
                  <a:pt x="0" y="0"/>
                </a:moveTo>
                <a:lnTo>
                  <a:pt x="8929993" y="0"/>
                </a:lnTo>
                <a:lnTo>
                  <a:pt x="8929993" y="7939576"/>
                </a:lnTo>
                <a:lnTo>
                  <a:pt x="0" y="7939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048267" y="7400056"/>
            <a:ext cx="2576774" cy="4114800"/>
          </a:xfrm>
          <a:custGeom>
            <a:avLst/>
            <a:gdLst/>
            <a:ahLst/>
            <a:cxnLst/>
            <a:rect r="r" b="b" t="t" l="l"/>
            <a:pathLst>
              <a:path h="4114800" w="2576774">
                <a:moveTo>
                  <a:pt x="0" y="0"/>
                </a:moveTo>
                <a:lnTo>
                  <a:pt x="2576773" y="0"/>
                </a:lnTo>
                <a:lnTo>
                  <a:pt x="257677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7259300" y="5809655"/>
            <a:ext cx="2576774" cy="4114800"/>
          </a:xfrm>
          <a:custGeom>
            <a:avLst/>
            <a:gdLst/>
            <a:ahLst/>
            <a:cxnLst/>
            <a:rect r="r" b="b" t="t" l="l"/>
            <a:pathLst>
              <a:path h="4114800" w="2576774">
                <a:moveTo>
                  <a:pt x="0" y="0"/>
                </a:moveTo>
                <a:lnTo>
                  <a:pt x="2576774" y="0"/>
                </a:lnTo>
                <a:lnTo>
                  <a:pt x="257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6000155" y="2990633"/>
            <a:ext cx="9867219" cy="6933822"/>
            <a:chOff x="0" y="0"/>
            <a:chExt cx="2330040" cy="1637349"/>
          </a:xfrm>
        </p:grpSpPr>
        <p:sp>
          <p:nvSpPr>
            <p:cNvPr name="Freeform 11" id="11"/>
            <p:cNvSpPr/>
            <p:nvPr/>
          </p:nvSpPr>
          <p:spPr>
            <a:xfrm flipH="false" flipV="false" rot="0">
              <a:off x="0" y="0"/>
              <a:ext cx="2330040" cy="1637349"/>
            </a:xfrm>
            <a:custGeom>
              <a:avLst/>
              <a:gdLst/>
              <a:ahLst/>
              <a:cxnLst/>
              <a:rect r="r" b="b" t="t" l="l"/>
              <a:pathLst>
                <a:path h="1637349" w="2330040">
                  <a:moveTo>
                    <a:pt x="78461" y="0"/>
                  </a:moveTo>
                  <a:lnTo>
                    <a:pt x="2251579" y="0"/>
                  </a:lnTo>
                  <a:cubicBezTo>
                    <a:pt x="2294912" y="0"/>
                    <a:pt x="2330040" y="35128"/>
                    <a:pt x="2330040" y="78461"/>
                  </a:cubicBezTo>
                  <a:lnTo>
                    <a:pt x="2330040" y="1558888"/>
                  </a:lnTo>
                  <a:cubicBezTo>
                    <a:pt x="2330040" y="1602221"/>
                    <a:pt x="2294912" y="1637349"/>
                    <a:pt x="2251579" y="1637349"/>
                  </a:cubicBezTo>
                  <a:lnTo>
                    <a:pt x="78461" y="1637349"/>
                  </a:lnTo>
                  <a:cubicBezTo>
                    <a:pt x="35128" y="1637349"/>
                    <a:pt x="0" y="1602221"/>
                    <a:pt x="0" y="1558888"/>
                  </a:cubicBezTo>
                  <a:lnTo>
                    <a:pt x="0" y="78461"/>
                  </a:lnTo>
                  <a:cubicBezTo>
                    <a:pt x="0" y="35128"/>
                    <a:pt x="35128" y="0"/>
                    <a:pt x="78461" y="0"/>
                  </a:cubicBezTo>
                  <a:close/>
                </a:path>
              </a:pathLst>
            </a:custGeom>
            <a:solidFill>
              <a:srgbClr val="0DA696"/>
            </a:solidFill>
          </p:spPr>
        </p:sp>
        <p:sp>
          <p:nvSpPr>
            <p:cNvPr name="TextBox 12" id="12"/>
            <p:cNvSpPr txBox="true"/>
            <p:nvPr/>
          </p:nvSpPr>
          <p:spPr>
            <a:xfrm>
              <a:off x="0" y="-38100"/>
              <a:ext cx="2330040" cy="1675449"/>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897575" y="9258300"/>
            <a:ext cx="6150692" cy="783535"/>
            <a:chOff x="0" y="0"/>
            <a:chExt cx="1452421" cy="185024"/>
          </a:xfrm>
        </p:grpSpPr>
        <p:sp>
          <p:nvSpPr>
            <p:cNvPr name="Freeform 14" id="14"/>
            <p:cNvSpPr/>
            <p:nvPr/>
          </p:nvSpPr>
          <p:spPr>
            <a:xfrm flipH="false" flipV="false" rot="0">
              <a:off x="0" y="0"/>
              <a:ext cx="1452421" cy="185024"/>
            </a:xfrm>
            <a:custGeom>
              <a:avLst/>
              <a:gdLst/>
              <a:ahLst/>
              <a:cxnLst/>
              <a:rect r="r" b="b" t="t" l="l"/>
              <a:pathLst>
                <a:path h="185024" w="1452421">
                  <a:moveTo>
                    <a:pt x="92512" y="0"/>
                  </a:moveTo>
                  <a:lnTo>
                    <a:pt x="1359910" y="0"/>
                  </a:lnTo>
                  <a:cubicBezTo>
                    <a:pt x="1411002" y="0"/>
                    <a:pt x="1452421" y="41419"/>
                    <a:pt x="1452421" y="92512"/>
                  </a:cubicBezTo>
                  <a:lnTo>
                    <a:pt x="1452421" y="92512"/>
                  </a:lnTo>
                  <a:cubicBezTo>
                    <a:pt x="1452421" y="117047"/>
                    <a:pt x="1442675" y="140578"/>
                    <a:pt x="1425325" y="157927"/>
                  </a:cubicBezTo>
                  <a:cubicBezTo>
                    <a:pt x="1407976" y="175277"/>
                    <a:pt x="1384445" y="185024"/>
                    <a:pt x="1359910" y="185024"/>
                  </a:cubicBezTo>
                  <a:lnTo>
                    <a:pt x="92512" y="185024"/>
                  </a:lnTo>
                  <a:cubicBezTo>
                    <a:pt x="67976" y="185024"/>
                    <a:pt x="44445" y="175277"/>
                    <a:pt x="27096" y="157927"/>
                  </a:cubicBezTo>
                  <a:cubicBezTo>
                    <a:pt x="9747" y="140578"/>
                    <a:pt x="0" y="117047"/>
                    <a:pt x="0" y="92512"/>
                  </a:cubicBezTo>
                  <a:lnTo>
                    <a:pt x="0" y="92512"/>
                  </a:lnTo>
                  <a:cubicBezTo>
                    <a:pt x="0" y="67976"/>
                    <a:pt x="9747" y="44445"/>
                    <a:pt x="27096" y="27096"/>
                  </a:cubicBezTo>
                  <a:cubicBezTo>
                    <a:pt x="44445" y="9747"/>
                    <a:pt x="67976" y="0"/>
                    <a:pt x="92512" y="0"/>
                  </a:cubicBezTo>
                  <a:close/>
                </a:path>
              </a:pathLst>
            </a:custGeom>
            <a:solidFill>
              <a:srgbClr val="013D62"/>
            </a:solidFill>
          </p:spPr>
        </p:sp>
        <p:sp>
          <p:nvSpPr>
            <p:cNvPr name="TextBox 15" id="15"/>
            <p:cNvSpPr txBox="true"/>
            <p:nvPr/>
          </p:nvSpPr>
          <p:spPr>
            <a:xfrm>
              <a:off x="0" y="-38100"/>
              <a:ext cx="1452421" cy="223124"/>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7179392" y="3504331"/>
            <a:ext cx="8109816" cy="5953125"/>
          </a:xfrm>
          <a:prstGeom prst="rect">
            <a:avLst/>
          </a:prstGeom>
        </p:spPr>
        <p:txBody>
          <a:bodyPr anchor="t" rtlCol="false" tIns="0" lIns="0" bIns="0" rIns="0">
            <a:spAutoFit/>
          </a:bodyPr>
          <a:lstStyle/>
          <a:p>
            <a:pPr algn="l">
              <a:lnSpc>
                <a:spcPts val="3600"/>
              </a:lnSpc>
            </a:pPr>
            <a:r>
              <a:rPr lang="en-US" sz="3000" b="true">
                <a:solidFill>
                  <a:srgbClr val="F5FDFB"/>
                </a:solidFill>
                <a:latin typeface="Sukar Bold"/>
                <a:ea typeface="Sukar Bold"/>
                <a:cs typeface="Sukar Bold"/>
                <a:sym typeface="Sukar Bold"/>
              </a:rPr>
              <a:t>TIM PROYEK TERDIRI DARI SPONSOR, PROJECT MANAGER, DAN LIMA PERAN INTI (PROCUREMENT LEAD, NETWORK ENGINEER, DB ADMIN, QA TESTER, CHANGE MANAGEMENT LEAD). ANALISIS RACI MENUNJUKKAN PROJECT MANAGER ACCOUNTABLE PADA HAMPIR SEMUA AKTIVITAS KUNCI, SEHINGGA DIREKOMENDASIKAN SEBAGIAN DIDELEGASIKAN KE TECHNICAL LEAD AGAR TIDAK JADI BOTTLENECK. UNTUK PENGADAAN, VENDOR DIEVALUASI BERDASARKAN KUALITAS TEKNIS, HARGA, SUPPORT, DAN REPUTASI, DENGAN JENIS KONTRAK YANG DISESUAIKAN AGAR BIAYA TETAP TERKENDALI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13D62"/>
        </a:solidFill>
      </p:bgPr>
    </p:bg>
    <p:spTree>
      <p:nvGrpSpPr>
        <p:cNvPr id="1" name=""/>
        <p:cNvGrpSpPr/>
        <p:nvPr/>
      </p:nvGrpSpPr>
      <p:grpSpPr>
        <a:xfrm>
          <a:off x="0" y="0"/>
          <a:ext cx="0" cy="0"/>
          <a:chOff x="0" y="0"/>
          <a:chExt cx="0" cy="0"/>
        </a:xfrm>
      </p:grpSpPr>
      <p:grpSp>
        <p:nvGrpSpPr>
          <p:cNvPr name="Group 2" id="2"/>
          <p:cNvGrpSpPr/>
          <p:nvPr/>
        </p:nvGrpSpPr>
        <p:grpSpPr>
          <a:xfrm rot="0">
            <a:off x="2145391" y="3954780"/>
            <a:ext cx="13997217" cy="6771964"/>
            <a:chOff x="0" y="0"/>
            <a:chExt cx="3686510" cy="1783563"/>
          </a:xfrm>
        </p:grpSpPr>
        <p:sp>
          <p:nvSpPr>
            <p:cNvPr name="Freeform 3" id="3"/>
            <p:cNvSpPr/>
            <p:nvPr/>
          </p:nvSpPr>
          <p:spPr>
            <a:xfrm flipH="false" flipV="false" rot="0">
              <a:off x="0" y="0"/>
              <a:ext cx="3686510" cy="1783562"/>
            </a:xfrm>
            <a:custGeom>
              <a:avLst/>
              <a:gdLst/>
              <a:ahLst/>
              <a:cxnLst/>
              <a:rect r="r" b="b" t="t" l="l"/>
              <a:pathLst>
                <a:path h="1783562" w="3686510">
                  <a:moveTo>
                    <a:pt x="44248" y="0"/>
                  </a:moveTo>
                  <a:lnTo>
                    <a:pt x="3642261" y="0"/>
                  </a:lnTo>
                  <a:cubicBezTo>
                    <a:pt x="3653997" y="0"/>
                    <a:pt x="3665251" y="4662"/>
                    <a:pt x="3673550" y="12960"/>
                  </a:cubicBezTo>
                  <a:cubicBezTo>
                    <a:pt x="3681848" y="21258"/>
                    <a:pt x="3686510" y="32513"/>
                    <a:pt x="3686510" y="44248"/>
                  </a:cubicBezTo>
                  <a:lnTo>
                    <a:pt x="3686510" y="1739314"/>
                  </a:lnTo>
                  <a:cubicBezTo>
                    <a:pt x="3686510" y="1763752"/>
                    <a:pt x="3666699" y="1783562"/>
                    <a:pt x="3642261" y="1783562"/>
                  </a:cubicBezTo>
                  <a:lnTo>
                    <a:pt x="44248" y="1783562"/>
                  </a:lnTo>
                  <a:cubicBezTo>
                    <a:pt x="32513" y="1783562"/>
                    <a:pt x="21258" y="1778901"/>
                    <a:pt x="12960" y="1770602"/>
                  </a:cubicBezTo>
                  <a:cubicBezTo>
                    <a:pt x="4662" y="1762304"/>
                    <a:pt x="0" y="1751050"/>
                    <a:pt x="0" y="1739314"/>
                  </a:cubicBezTo>
                  <a:lnTo>
                    <a:pt x="0" y="44248"/>
                  </a:lnTo>
                  <a:cubicBezTo>
                    <a:pt x="0" y="32513"/>
                    <a:pt x="4662" y="21258"/>
                    <a:pt x="12960" y="12960"/>
                  </a:cubicBezTo>
                  <a:cubicBezTo>
                    <a:pt x="21258" y="4662"/>
                    <a:pt x="32513" y="0"/>
                    <a:pt x="44248" y="0"/>
                  </a:cubicBezTo>
                  <a:close/>
                </a:path>
              </a:pathLst>
            </a:custGeom>
            <a:solidFill>
              <a:srgbClr val="F5FDFB"/>
            </a:solidFill>
          </p:spPr>
        </p:sp>
        <p:sp>
          <p:nvSpPr>
            <p:cNvPr name="TextBox 4" id="4"/>
            <p:cNvSpPr txBox="true"/>
            <p:nvPr/>
          </p:nvSpPr>
          <p:spPr>
            <a:xfrm>
              <a:off x="0" y="-38100"/>
              <a:ext cx="3686510" cy="182166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112519" y="4756145"/>
            <a:ext cx="10441586" cy="4206880"/>
            <a:chOff x="0" y="0"/>
            <a:chExt cx="2750047" cy="1107985"/>
          </a:xfrm>
        </p:grpSpPr>
        <p:sp>
          <p:nvSpPr>
            <p:cNvPr name="Freeform 6" id="6"/>
            <p:cNvSpPr/>
            <p:nvPr/>
          </p:nvSpPr>
          <p:spPr>
            <a:xfrm flipH="false" flipV="false" rot="0">
              <a:off x="0" y="0"/>
              <a:ext cx="2750047" cy="1107985"/>
            </a:xfrm>
            <a:custGeom>
              <a:avLst/>
              <a:gdLst/>
              <a:ahLst/>
              <a:cxnLst/>
              <a:rect r="r" b="b" t="t" l="l"/>
              <a:pathLst>
                <a:path h="1107985" w="2750047">
                  <a:moveTo>
                    <a:pt x="29658" y="0"/>
                  </a:moveTo>
                  <a:lnTo>
                    <a:pt x="2720389" y="0"/>
                  </a:lnTo>
                  <a:cubicBezTo>
                    <a:pt x="2736769" y="0"/>
                    <a:pt x="2750047" y="13278"/>
                    <a:pt x="2750047" y="29658"/>
                  </a:cubicBezTo>
                  <a:lnTo>
                    <a:pt x="2750047" y="1078327"/>
                  </a:lnTo>
                  <a:cubicBezTo>
                    <a:pt x="2750047" y="1094707"/>
                    <a:pt x="2736769" y="1107985"/>
                    <a:pt x="2720389" y="1107985"/>
                  </a:cubicBezTo>
                  <a:lnTo>
                    <a:pt x="29658" y="1107985"/>
                  </a:lnTo>
                  <a:cubicBezTo>
                    <a:pt x="13278" y="1107985"/>
                    <a:pt x="0" y="1094707"/>
                    <a:pt x="0" y="1078327"/>
                  </a:cubicBezTo>
                  <a:lnTo>
                    <a:pt x="0" y="29658"/>
                  </a:lnTo>
                  <a:cubicBezTo>
                    <a:pt x="0" y="13278"/>
                    <a:pt x="13278" y="0"/>
                    <a:pt x="29658" y="0"/>
                  </a:cubicBezTo>
                  <a:close/>
                </a:path>
              </a:pathLst>
            </a:custGeom>
            <a:solidFill>
              <a:srgbClr val="013D62"/>
            </a:solidFill>
          </p:spPr>
        </p:sp>
        <p:sp>
          <p:nvSpPr>
            <p:cNvPr name="TextBox 7" id="7"/>
            <p:cNvSpPr txBox="true"/>
            <p:nvPr/>
          </p:nvSpPr>
          <p:spPr>
            <a:xfrm>
              <a:off x="0" y="-38100"/>
              <a:ext cx="2750047" cy="114608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4112519" y="828675"/>
            <a:ext cx="10973735" cy="2333625"/>
          </a:xfrm>
          <a:prstGeom prst="rect">
            <a:avLst/>
          </a:prstGeom>
        </p:spPr>
        <p:txBody>
          <a:bodyPr anchor="t" rtlCol="false" tIns="0" lIns="0" bIns="0" rIns="0">
            <a:spAutoFit/>
          </a:bodyPr>
          <a:lstStyle/>
          <a:p>
            <a:pPr algn="ctr">
              <a:lnSpc>
                <a:spcPts val="8400"/>
              </a:lnSpc>
            </a:pPr>
            <a:r>
              <a:rPr lang="en-US" b="true" sz="7000">
                <a:solidFill>
                  <a:srgbClr val="F5FDFB"/>
                </a:solidFill>
                <a:latin typeface="Cooper Hewitt Bold"/>
                <a:ea typeface="Cooper Hewitt Bold"/>
                <a:cs typeface="Cooper Hewitt Bold"/>
                <a:sym typeface="Cooper Hewitt Bold"/>
              </a:rPr>
              <a:t>IMPLEMENTASI &amp; MANAJEMEN PERUBAHAN</a:t>
            </a:r>
          </a:p>
        </p:txBody>
      </p:sp>
      <p:sp>
        <p:nvSpPr>
          <p:cNvPr name="TextBox 9" id="9"/>
          <p:cNvSpPr txBox="true"/>
          <p:nvPr/>
        </p:nvSpPr>
        <p:spPr>
          <a:xfrm rot="0">
            <a:off x="4858334" y="5249860"/>
            <a:ext cx="8949957" cy="3209925"/>
          </a:xfrm>
          <a:prstGeom prst="rect">
            <a:avLst/>
          </a:prstGeom>
        </p:spPr>
        <p:txBody>
          <a:bodyPr anchor="t" rtlCol="false" tIns="0" lIns="0" bIns="0" rIns="0">
            <a:spAutoFit/>
          </a:bodyPr>
          <a:lstStyle/>
          <a:p>
            <a:pPr algn="just">
              <a:lnSpc>
                <a:spcPts val="3600"/>
              </a:lnSpc>
            </a:pPr>
            <a:r>
              <a:rPr lang="en-US" sz="3000">
                <a:solidFill>
                  <a:srgbClr val="F5FDFB"/>
                </a:solidFill>
                <a:latin typeface="Sukar"/>
                <a:ea typeface="Sukar"/>
                <a:cs typeface="Sukar"/>
                <a:sym typeface="Sukar"/>
              </a:rPr>
              <a:t>Strategi go-live yang dipilih adalah Phased Deployment: ERP dulu, lalu POS per wilayah, dan e-commerce terakhir karena risikonya paling tinggi. Migrasi data dilakukan lewat proses ETL dengan validasi ketat, dan disiapkan rencana rollback jika ditemukan mismatch data lebih dari 5%. Pelatihan dan sosialisasi juga disiapkan untuk semua kelompok pengguna agar transisi berjalan lancar.</a:t>
            </a:r>
          </a:p>
        </p:txBody>
      </p:sp>
      <p:sp>
        <p:nvSpPr>
          <p:cNvPr name="Freeform 10" id="10"/>
          <p:cNvSpPr/>
          <p:nvPr/>
        </p:nvSpPr>
        <p:spPr>
          <a:xfrm flipH="false" flipV="false" rot="0">
            <a:off x="-4821602" y="-2366312"/>
            <a:ext cx="6068291" cy="5395262"/>
          </a:xfrm>
          <a:custGeom>
            <a:avLst/>
            <a:gdLst/>
            <a:ahLst/>
            <a:cxnLst/>
            <a:rect r="r" b="b" t="t" l="l"/>
            <a:pathLst>
              <a:path h="5395262" w="6068291">
                <a:moveTo>
                  <a:pt x="0" y="0"/>
                </a:moveTo>
                <a:lnTo>
                  <a:pt x="6068290" y="0"/>
                </a:lnTo>
                <a:lnTo>
                  <a:pt x="6068290" y="5395262"/>
                </a:lnTo>
                <a:lnTo>
                  <a:pt x="0" y="53952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false" rot="0">
            <a:off x="17041312" y="-2366312"/>
            <a:ext cx="6068291" cy="5395262"/>
          </a:xfrm>
          <a:custGeom>
            <a:avLst/>
            <a:gdLst/>
            <a:ahLst/>
            <a:cxnLst/>
            <a:rect r="r" b="b" t="t" l="l"/>
            <a:pathLst>
              <a:path h="5395262" w="6068291">
                <a:moveTo>
                  <a:pt x="6068290" y="0"/>
                </a:moveTo>
                <a:lnTo>
                  <a:pt x="0" y="0"/>
                </a:lnTo>
                <a:lnTo>
                  <a:pt x="0" y="5395262"/>
                </a:lnTo>
                <a:lnTo>
                  <a:pt x="6068290" y="5395262"/>
                </a:lnTo>
                <a:lnTo>
                  <a:pt x="606829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3238311">
            <a:off x="-1552609" y="-397003"/>
            <a:ext cx="2576774" cy="4114800"/>
          </a:xfrm>
          <a:custGeom>
            <a:avLst/>
            <a:gdLst/>
            <a:ahLst/>
            <a:cxnLst/>
            <a:rect r="r" b="b" t="t" l="l"/>
            <a:pathLst>
              <a:path h="4114800" w="2576774">
                <a:moveTo>
                  <a:pt x="2576774" y="0"/>
                </a:moveTo>
                <a:lnTo>
                  <a:pt x="0" y="0"/>
                </a:lnTo>
                <a:lnTo>
                  <a:pt x="0" y="4114800"/>
                </a:lnTo>
                <a:lnTo>
                  <a:pt x="2576774" y="4114800"/>
                </a:lnTo>
                <a:lnTo>
                  <a:pt x="257677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239999">
            <a:off x="17263753" y="-397003"/>
            <a:ext cx="2576774" cy="4114800"/>
          </a:xfrm>
          <a:custGeom>
            <a:avLst/>
            <a:gdLst/>
            <a:ahLst/>
            <a:cxnLst/>
            <a:rect r="r" b="b" t="t" l="l"/>
            <a:pathLst>
              <a:path h="4114800" w="2576774">
                <a:moveTo>
                  <a:pt x="0" y="0"/>
                </a:moveTo>
                <a:lnTo>
                  <a:pt x="2576773" y="0"/>
                </a:lnTo>
                <a:lnTo>
                  <a:pt x="257677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526757" y="8963025"/>
            <a:ext cx="19341514" cy="4079301"/>
          </a:xfrm>
          <a:custGeom>
            <a:avLst/>
            <a:gdLst/>
            <a:ahLst/>
            <a:cxnLst/>
            <a:rect r="r" b="b" t="t" l="l"/>
            <a:pathLst>
              <a:path h="4079301" w="19341514">
                <a:moveTo>
                  <a:pt x="0" y="0"/>
                </a:moveTo>
                <a:lnTo>
                  <a:pt x="19341514" y="0"/>
                </a:lnTo>
                <a:lnTo>
                  <a:pt x="19341514" y="4079301"/>
                </a:lnTo>
                <a:lnTo>
                  <a:pt x="0" y="40793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6545932" y="6432213"/>
            <a:ext cx="3354807" cy="851574"/>
          </a:xfrm>
          <a:custGeom>
            <a:avLst/>
            <a:gdLst/>
            <a:ahLst/>
            <a:cxnLst/>
            <a:rect r="r" b="b" t="t" l="l"/>
            <a:pathLst>
              <a:path h="851574" w="3354807">
                <a:moveTo>
                  <a:pt x="0" y="0"/>
                </a:moveTo>
                <a:lnTo>
                  <a:pt x="3354807" y="0"/>
                </a:lnTo>
                <a:lnTo>
                  <a:pt x="3354807" y="851574"/>
                </a:lnTo>
                <a:lnTo>
                  <a:pt x="0" y="8515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612739" y="6432213"/>
            <a:ext cx="3354807" cy="851574"/>
          </a:xfrm>
          <a:custGeom>
            <a:avLst/>
            <a:gdLst/>
            <a:ahLst/>
            <a:cxnLst/>
            <a:rect r="r" b="b" t="t" l="l"/>
            <a:pathLst>
              <a:path h="851574" w="3354807">
                <a:moveTo>
                  <a:pt x="0" y="0"/>
                </a:moveTo>
                <a:lnTo>
                  <a:pt x="3354807" y="0"/>
                </a:lnTo>
                <a:lnTo>
                  <a:pt x="3354807" y="851574"/>
                </a:lnTo>
                <a:lnTo>
                  <a:pt x="0" y="8515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13D62"/>
        </a:solidFill>
      </p:bgPr>
    </p:bg>
    <p:spTree>
      <p:nvGrpSpPr>
        <p:cNvPr id="1" name=""/>
        <p:cNvGrpSpPr/>
        <p:nvPr/>
      </p:nvGrpSpPr>
      <p:grpSpPr>
        <a:xfrm>
          <a:off x="0" y="0"/>
          <a:ext cx="0" cy="0"/>
          <a:chOff x="0" y="0"/>
          <a:chExt cx="0" cy="0"/>
        </a:xfrm>
      </p:grpSpPr>
      <p:grpSp>
        <p:nvGrpSpPr>
          <p:cNvPr name="Group 2" id="2"/>
          <p:cNvGrpSpPr/>
          <p:nvPr/>
        </p:nvGrpSpPr>
        <p:grpSpPr>
          <a:xfrm rot="0">
            <a:off x="14292465" y="-580025"/>
            <a:ext cx="5146044" cy="11447050"/>
            <a:chOff x="0" y="0"/>
            <a:chExt cx="1355337" cy="3014861"/>
          </a:xfrm>
        </p:grpSpPr>
        <p:sp>
          <p:nvSpPr>
            <p:cNvPr name="Freeform 3" id="3"/>
            <p:cNvSpPr/>
            <p:nvPr/>
          </p:nvSpPr>
          <p:spPr>
            <a:xfrm flipH="false" flipV="false" rot="0">
              <a:off x="0" y="0"/>
              <a:ext cx="1355337" cy="3014861"/>
            </a:xfrm>
            <a:custGeom>
              <a:avLst/>
              <a:gdLst/>
              <a:ahLst/>
              <a:cxnLst/>
              <a:rect r="r" b="b" t="t" l="l"/>
              <a:pathLst>
                <a:path h="3014861" w="1355337">
                  <a:moveTo>
                    <a:pt x="0" y="0"/>
                  </a:moveTo>
                  <a:lnTo>
                    <a:pt x="1355337" y="0"/>
                  </a:lnTo>
                  <a:lnTo>
                    <a:pt x="1355337" y="3014861"/>
                  </a:lnTo>
                  <a:lnTo>
                    <a:pt x="0" y="3014861"/>
                  </a:lnTo>
                  <a:close/>
                </a:path>
              </a:pathLst>
            </a:custGeom>
            <a:solidFill>
              <a:srgbClr val="BCDCDA"/>
            </a:solidFill>
          </p:spPr>
        </p:sp>
        <p:sp>
          <p:nvSpPr>
            <p:cNvPr name="TextBox 4" id="4"/>
            <p:cNvSpPr txBox="true"/>
            <p:nvPr/>
          </p:nvSpPr>
          <p:spPr>
            <a:xfrm>
              <a:off x="0" y="-38100"/>
              <a:ext cx="1355337" cy="305296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6089" y="1859635"/>
            <a:ext cx="8831911" cy="6567730"/>
          </a:xfrm>
          <a:custGeom>
            <a:avLst/>
            <a:gdLst/>
            <a:ahLst/>
            <a:cxnLst/>
            <a:rect r="r" b="b" t="t" l="l"/>
            <a:pathLst>
              <a:path h="6567730" w="8831911">
                <a:moveTo>
                  <a:pt x="0" y="0"/>
                </a:moveTo>
                <a:lnTo>
                  <a:pt x="8831911" y="0"/>
                </a:lnTo>
                <a:lnTo>
                  <a:pt x="8831911" y="6567730"/>
                </a:lnTo>
                <a:lnTo>
                  <a:pt x="0" y="65677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1123950" y="942975"/>
            <a:ext cx="8144654" cy="2333625"/>
          </a:xfrm>
          <a:prstGeom prst="rect">
            <a:avLst/>
          </a:prstGeom>
        </p:spPr>
        <p:txBody>
          <a:bodyPr anchor="t" rtlCol="false" tIns="0" lIns="0" bIns="0" rIns="0">
            <a:spAutoFit/>
          </a:bodyPr>
          <a:lstStyle/>
          <a:p>
            <a:pPr algn="l">
              <a:lnSpc>
                <a:spcPts val="8400"/>
              </a:lnSpc>
            </a:pPr>
            <a:r>
              <a:rPr lang="en-US" sz="7000" b="true">
                <a:solidFill>
                  <a:srgbClr val="F5FDFB"/>
                </a:solidFill>
                <a:latin typeface="Cooper Hewitt Bold"/>
                <a:ea typeface="Cooper Hewitt Bold"/>
                <a:cs typeface="Cooper Hewitt Bold"/>
                <a:sym typeface="Cooper Hewitt Bold"/>
              </a:rPr>
              <a:t>MONITORING &amp; PENUTUPAN</a:t>
            </a:r>
          </a:p>
        </p:txBody>
      </p:sp>
      <p:sp>
        <p:nvSpPr>
          <p:cNvPr name="TextBox 7" id="7"/>
          <p:cNvSpPr txBox="true"/>
          <p:nvPr/>
        </p:nvSpPr>
        <p:spPr>
          <a:xfrm rot="0">
            <a:off x="1123950" y="3845840"/>
            <a:ext cx="7584675" cy="4581525"/>
          </a:xfrm>
          <a:prstGeom prst="rect">
            <a:avLst/>
          </a:prstGeom>
        </p:spPr>
        <p:txBody>
          <a:bodyPr anchor="t" rtlCol="false" tIns="0" lIns="0" bIns="0" rIns="0">
            <a:spAutoFit/>
          </a:bodyPr>
          <a:lstStyle/>
          <a:p>
            <a:pPr algn="l">
              <a:lnSpc>
                <a:spcPts val="3600"/>
              </a:lnSpc>
            </a:pPr>
            <a:r>
              <a:rPr lang="en-US" sz="3000">
                <a:solidFill>
                  <a:srgbClr val="F5FDFB"/>
                </a:solidFill>
                <a:latin typeface="Sukar"/>
                <a:ea typeface="Sukar"/>
                <a:cs typeface="Sukar"/>
                <a:sym typeface="Sukar"/>
              </a:rPr>
              <a:t>Evaluasi kinerja di minggu ke-12 menunjukkan proyek sedikit terlambat jadwal (SPI 0,75) dan boros anggaran (CPI 0,833), dengan proyeksi biaya akhir bisa mencapai Rp1,44 miliar  melebihi anggaran plus kontingensi. Setelah proyek selesai, dilakukan closure mencakup aspek administratif, teknis, finansial, dan SDM. Untuk operasional jangka panjang, disiapkan SLA dukungan dan rencana pemeliharaan tahunan senilai sekitar 18% dari biaya pengembangan.</a:t>
            </a:r>
          </a:p>
        </p:txBody>
      </p:sp>
      <p:sp>
        <p:nvSpPr>
          <p:cNvPr name="Freeform 8" id="8"/>
          <p:cNvSpPr/>
          <p:nvPr/>
        </p:nvSpPr>
        <p:spPr>
          <a:xfrm flipH="false" flipV="false" rot="0">
            <a:off x="9693601" y="644521"/>
            <a:ext cx="3026969" cy="768357"/>
          </a:xfrm>
          <a:custGeom>
            <a:avLst/>
            <a:gdLst/>
            <a:ahLst/>
            <a:cxnLst/>
            <a:rect r="r" b="b" t="t" l="l"/>
            <a:pathLst>
              <a:path h="768357" w="3026969">
                <a:moveTo>
                  <a:pt x="0" y="0"/>
                </a:moveTo>
                <a:lnTo>
                  <a:pt x="3026970" y="0"/>
                </a:lnTo>
                <a:lnTo>
                  <a:pt x="3026970" y="768358"/>
                </a:lnTo>
                <a:lnTo>
                  <a:pt x="0" y="7683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DFB"/>
        </a:solidFill>
      </p:bgPr>
    </p:bg>
    <p:spTree>
      <p:nvGrpSpPr>
        <p:cNvPr id="1" name=""/>
        <p:cNvGrpSpPr/>
        <p:nvPr/>
      </p:nvGrpSpPr>
      <p:grpSpPr>
        <a:xfrm>
          <a:off x="0" y="0"/>
          <a:ext cx="0" cy="0"/>
          <a:chOff x="0" y="0"/>
          <a:chExt cx="0" cy="0"/>
        </a:xfrm>
      </p:grpSpPr>
      <p:sp>
        <p:nvSpPr>
          <p:cNvPr name="Freeform 2" id="2"/>
          <p:cNvSpPr/>
          <p:nvPr/>
        </p:nvSpPr>
        <p:spPr>
          <a:xfrm flipH="false" flipV="false" rot="0">
            <a:off x="1406466" y="5839285"/>
            <a:ext cx="1410782" cy="1172170"/>
          </a:xfrm>
          <a:custGeom>
            <a:avLst/>
            <a:gdLst/>
            <a:ahLst/>
            <a:cxnLst/>
            <a:rect r="r" b="b" t="t" l="l"/>
            <a:pathLst>
              <a:path h="1172170" w="1410782">
                <a:moveTo>
                  <a:pt x="0" y="0"/>
                </a:moveTo>
                <a:lnTo>
                  <a:pt x="1410782" y="0"/>
                </a:lnTo>
                <a:lnTo>
                  <a:pt x="1410782" y="1172170"/>
                </a:lnTo>
                <a:lnTo>
                  <a:pt x="0" y="11721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470752" y="5839285"/>
            <a:ext cx="1410782" cy="1172170"/>
          </a:xfrm>
          <a:custGeom>
            <a:avLst/>
            <a:gdLst/>
            <a:ahLst/>
            <a:cxnLst/>
            <a:rect r="r" b="b" t="t" l="l"/>
            <a:pathLst>
              <a:path h="1172170" w="1410782">
                <a:moveTo>
                  <a:pt x="1410782" y="0"/>
                </a:moveTo>
                <a:lnTo>
                  <a:pt x="0" y="0"/>
                </a:lnTo>
                <a:lnTo>
                  <a:pt x="0" y="1172170"/>
                </a:lnTo>
                <a:lnTo>
                  <a:pt x="1410782" y="1172170"/>
                </a:lnTo>
                <a:lnTo>
                  <a:pt x="141078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420870" y="1187424"/>
            <a:ext cx="8929993" cy="7939576"/>
          </a:xfrm>
          <a:custGeom>
            <a:avLst/>
            <a:gdLst/>
            <a:ahLst/>
            <a:cxnLst/>
            <a:rect r="r" b="b" t="t" l="l"/>
            <a:pathLst>
              <a:path h="7939576" w="8929993">
                <a:moveTo>
                  <a:pt x="0" y="0"/>
                </a:moveTo>
                <a:lnTo>
                  <a:pt x="8929993" y="0"/>
                </a:lnTo>
                <a:lnTo>
                  <a:pt x="8929993" y="7939576"/>
                </a:lnTo>
                <a:lnTo>
                  <a:pt x="0" y="7939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048267" y="7400056"/>
            <a:ext cx="2576774" cy="4114800"/>
          </a:xfrm>
          <a:custGeom>
            <a:avLst/>
            <a:gdLst/>
            <a:ahLst/>
            <a:cxnLst/>
            <a:rect r="r" b="b" t="t" l="l"/>
            <a:pathLst>
              <a:path h="4114800" w="2576774">
                <a:moveTo>
                  <a:pt x="0" y="0"/>
                </a:moveTo>
                <a:lnTo>
                  <a:pt x="2576773" y="0"/>
                </a:lnTo>
                <a:lnTo>
                  <a:pt x="257677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6062863" y="1187424"/>
            <a:ext cx="8929993" cy="7939576"/>
          </a:xfrm>
          <a:custGeom>
            <a:avLst/>
            <a:gdLst/>
            <a:ahLst/>
            <a:cxnLst/>
            <a:rect r="r" b="b" t="t" l="l"/>
            <a:pathLst>
              <a:path h="7939576" w="8929993">
                <a:moveTo>
                  <a:pt x="8929993" y="0"/>
                </a:moveTo>
                <a:lnTo>
                  <a:pt x="0" y="0"/>
                </a:lnTo>
                <a:lnTo>
                  <a:pt x="0" y="7939576"/>
                </a:lnTo>
                <a:lnTo>
                  <a:pt x="8929993" y="7939576"/>
                </a:lnTo>
                <a:lnTo>
                  <a:pt x="89299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337040" y="7400056"/>
            <a:ext cx="2576774" cy="4114800"/>
          </a:xfrm>
          <a:custGeom>
            <a:avLst/>
            <a:gdLst/>
            <a:ahLst/>
            <a:cxnLst/>
            <a:rect r="r" b="b" t="t" l="l"/>
            <a:pathLst>
              <a:path h="4114800" w="2576774">
                <a:moveTo>
                  <a:pt x="2576773" y="0"/>
                </a:moveTo>
                <a:lnTo>
                  <a:pt x="0" y="0"/>
                </a:lnTo>
                <a:lnTo>
                  <a:pt x="0" y="4114800"/>
                </a:lnTo>
                <a:lnTo>
                  <a:pt x="2576773" y="4114800"/>
                </a:lnTo>
                <a:lnTo>
                  <a:pt x="257677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548074" y="5809655"/>
            <a:ext cx="2576774" cy="4114800"/>
          </a:xfrm>
          <a:custGeom>
            <a:avLst/>
            <a:gdLst/>
            <a:ahLst/>
            <a:cxnLst/>
            <a:rect r="r" b="b" t="t" l="l"/>
            <a:pathLst>
              <a:path h="4114800" w="2576774">
                <a:moveTo>
                  <a:pt x="2576774" y="0"/>
                </a:moveTo>
                <a:lnTo>
                  <a:pt x="0" y="0"/>
                </a:lnTo>
                <a:lnTo>
                  <a:pt x="0" y="4114800"/>
                </a:lnTo>
                <a:lnTo>
                  <a:pt x="2576774" y="4114800"/>
                </a:lnTo>
                <a:lnTo>
                  <a:pt x="25767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7259300" y="5809655"/>
            <a:ext cx="2576774" cy="4114800"/>
          </a:xfrm>
          <a:custGeom>
            <a:avLst/>
            <a:gdLst/>
            <a:ahLst/>
            <a:cxnLst/>
            <a:rect r="r" b="b" t="t" l="l"/>
            <a:pathLst>
              <a:path h="4114800" w="2576774">
                <a:moveTo>
                  <a:pt x="0" y="0"/>
                </a:moveTo>
                <a:lnTo>
                  <a:pt x="2576774" y="0"/>
                </a:lnTo>
                <a:lnTo>
                  <a:pt x="257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526757" y="8394290"/>
            <a:ext cx="19341514" cy="4079301"/>
          </a:xfrm>
          <a:custGeom>
            <a:avLst/>
            <a:gdLst/>
            <a:ahLst/>
            <a:cxnLst/>
            <a:rect r="r" b="b" t="t" l="l"/>
            <a:pathLst>
              <a:path h="4079301" w="19341514">
                <a:moveTo>
                  <a:pt x="0" y="0"/>
                </a:moveTo>
                <a:lnTo>
                  <a:pt x="19341514" y="0"/>
                </a:lnTo>
                <a:lnTo>
                  <a:pt x="19341514" y="4079301"/>
                </a:lnTo>
                <a:lnTo>
                  <a:pt x="0" y="40793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6545932" y="1501368"/>
            <a:ext cx="3354807" cy="851574"/>
          </a:xfrm>
          <a:custGeom>
            <a:avLst/>
            <a:gdLst/>
            <a:ahLst/>
            <a:cxnLst/>
            <a:rect r="r" b="b" t="t" l="l"/>
            <a:pathLst>
              <a:path h="851574" w="3354807">
                <a:moveTo>
                  <a:pt x="0" y="0"/>
                </a:moveTo>
                <a:lnTo>
                  <a:pt x="3354807" y="0"/>
                </a:lnTo>
                <a:lnTo>
                  <a:pt x="3354807" y="851574"/>
                </a:lnTo>
                <a:lnTo>
                  <a:pt x="0" y="85157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612739" y="1501368"/>
            <a:ext cx="3354807" cy="851574"/>
          </a:xfrm>
          <a:custGeom>
            <a:avLst/>
            <a:gdLst/>
            <a:ahLst/>
            <a:cxnLst/>
            <a:rect r="r" b="b" t="t" l="l"/>
            <a:pathLst>
              <a:path h="851574" w="3354807">
                <a:moveTo>
                  <a:pt x="0" y="0"/>
                </a:moveTo>
                <a:lnTo>
                  <a:pt x="3354807" y="0"/>
                </a:lnTo>
                <a:lnTo>
                  <a:pt x="3354807" y="851574"/>
                </a:lnTo>
                <a:lnTo>
                  <a:pt x="0" y="85157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0">
            <a:off x="-1123347" y="-837358"/>
            <a:ext cx="20534694" cy="1536831"/>
            <a:chOff x="0" y="0"/>
            <a:chExt cx="5408314" cy="404762"/>
          </a:xfrm>
        </p:grpSpPr>
        <p:sp>
          <p:nvSpPr>
            <p:cNvPr name="Freeform 14" id="14"/>
            <p:cNvSpPr/>
            <p:nvPr/>
          </p:nvSpPr>
          <p:spPr>
            <a:xfrm flipH="false" flipV="false" rot="0">
              <a:off x="0" y="0"/>
              <a:ext cx="5408314" cy="404762"/>
            </a:xfrm>
            <a:custGeom>
              <a:avLst/>
              <a:gdLst/>
              <a:ahLst/>
              <a:cxnLst/>
              <a:rect r="r" b="b" t="t" l="l"/>
              <a:pathLst>
                <a:path h="404762" w="5408314">
                  <a:moveTo>
                    <a:pt x="0" y="0"/>
                  </a:moveTo>
                  <a:lnTo>
                    <a:pt x="5408314" y="0"/>
                  </a:lnTo>
                  <a:lnTo>
                    <a:pt x="5408314" y="404762"/>
                  </a:lnTo>
                  <a:lnTo>
                    <a:pt x="0" y="404762"/>
                  </a:lnTo>
                  <a:close/>
                </a:path>
              </a:pathLst>
            </a:custGeom>
            <a:solidFill>
              <a:srgbClr val="BCDCDA"/>
            </a:solidFill>
          </p:spPr>
        </p:sp>
        <p:sp>
          <p:nvSpPr>
            <p:cNvPr name="TextBox 15" id="15"/>
            <p:cNvSpPr txBox="true"/>
            <p:nvPr/>
          </p:nvSpPr>
          <p:spPr>
            <a:xfrm>
              <a:off x="0" y="-38100"/>
              <a:ext cx="5408314" cy="442862"/>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4782049" y="2086242"/>
            <a:ext cx="8723903" cy="1695450"/>
          </a:xfrm>
          <a:prstGeom prst="rect">
            <a:avLst/>
          </a:prstGeom>
        </p:spPr>
        <p:txBody>
          <a:bodyPr anchor="t" rtlCol="false" tIns="0" lIns="0" bIns="0" rIns="0">
            <a:spAutoFit/>
          </a:bodyPr>
          <a:lstStyle/>
          <a:p>
            <a:pPr algn="ctr">
              <a:lnSpc>
                <a:spcPts val="11279"/>
              </a:lnSpc>
            </a:pPr>
            <a:r>
              <a:rPr lang="en-US" b="true" sz="9399">
                <a:solidFill>
                  <a:srgbClr val="000000"/>
                </a:solidFill>
                <a:latin typeface="Cooper Hewitt Bold"/>
                <a:ea typeface="Cooper Hewitt Bold"/>
                <a:cs typeface="Cooper Hewitt Bold"/>
                <a:sym typeface="Cooper Hewitt Bold"/>
              </a:rPr>
              <a:t>KESIMPULAN </a:t>
            </a:r>
          </a:p>
        </p:txBody>
      </p:sp>
      <p:sp>
        <p:nvSpPr>
          <p:cNvPr name="TextBox 17" id="17"/>
          <p:cNvSpPr txBox="true"/>
          <p:nvPr/>
        </p:nvSpPr>
        <p:spPr>
          <a:xfrm rot="0">
            <a:off x="4177639" y="4342991"/>
            <a:ext cx="9932721" cy="3209925"/>
          </a:xfrm>
          <a:prstGeom prst="rect">
            <a:avLst/>
          </a:prstGeom>
        </p:spPr>
        <p:txBody>
          <a:bodyPr anchor="t" rtlCol="false" tIns="0" lIns="0" bIns="0" rIns="0">
            <a:spAutoFit/>
          </a:bodyPr>
          <a:lstStyle/>
          <a:p>
            <a:pPr algn="just">
              <a:lnSpc>
                <a:spcPts val="4200"/>
              </a:lnSpc>
            </a:pPr>
            <a:r>
              <a:rPr lang="en-US" sz="3500" b="true">
                <a:solidFill>
                  <a:srgbClr val="013D62"/>
                </a:solidFill>
                <a:latin typeface="Sukar Bold"/>
                <a:ea typeface="Sukar Bold"/>
                <a:cs typeface="Sukar Bold"/>
                <a:sym typeface="Sukar Bold"/>
              </a:rPr>
              <a:t>CloudShift layak dijalankan secara finansial maupun strategis, dengan risiko yang sudah teridentifikasi dan termitigasi. Namun performa di minggu ke-12 menjadi sinyal penting bahwa proyek butuh pengawasan ketat dan kemungkinan revisi anggaran agar tidak melampaui batas yang disepakati.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DFB"/>
        </a:solidFill>
      </p:bgPr>
    </p:bg>
    <p:spTree>
      <p:nvGrpSpPr>
        <p:cNvPr id="1" name=""/>
        <p:cNvGrpSpPr/>
        <p:nvPr/>
      </p:nvGrpSpPr>
      <p:grpSpPr>
        <a:xfrm>
          <a:off x="0" y="0"/>
          <a:ext cx="0" cy="0"/>
          <a:chOff x="0" y="0"/>
          <a:chExt cx="0" cy="0"/>
        </a:xfrm>
      </p:grpSpPr>
      <p:sp>
        <p:nvSpPr>
          <p:cNvPr name="Freeform 2" id="2"/>
          <p:cNvSpPr/>
          <p:nvPr/>
        </p:nvSpPr>
        <p:spPr>
          <a:xfrm flipH="false" flipV="false" rot="0">
            <a:off x="1406466" y="5839285"/>
            <a:ext cx="1410782" cy="1172170"/>
          </a:xfrm>
          <a:custGeom>
            <a:avLst/>
            <a:gdLst/>
            <a:ahLst/>
            <a:cxnLst/>
            <a:rect r="r" b="b" t="t" l="l"/>
            <a:pathLst>
              <a:path h="1172170" w="1410782">
                <a:moveTo>
                  <a:pt x="0" y="0"/>
                </a:moveTo>
                <a:lnTo>
                  <a:pt x="1410782" y="0"/>
                </a:lnTo>
                <a:lnTo>
                  <a:pt x="1410782" y="1172170"/>
                </a:lnTo>
                <a:lnTo>
                  <a:pt x="0" y="11721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470752" y="5839285"/>
            <a:ext cx="1410782" cy="1172170"/>
          </a:xfrm>
          <a:custGeom>
            <a:avLst/>
            <a:gdLst/>
            <a:ahLst/>
            <a:cxnLst/>
            <a:rect r="r" b="b" t="t" l="l"/>
            <a:pathLst>
              <a:path h="1172170" w="1410782">
                <a:moveTo>
                  <a:pt x="1410782" y="0"/>
                </a:moveTo>
                <a:lnTo>
                  <a:pt x="0" y="0"/>
                </a:lnTo>
                <a:lnTo>
                  <a:pt x="0" y="1172170"/>
                </a:lnTo>
                <a:lnTo>
                  <a:pt x="1410782" y="1172170"/>
                </a:lnTo>
                <a:lnTo>
                  <a:pt x="141078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420870" y="1187424"/>
            <a:ext cx="8929993" cy="7939576"/>
          </a:xfrm>
          <a:custGeom>
            <a:avLst/>
            <a:gdLst/>
            <a:ahLst/>
            <a:cxnLst/>
            <a:rect r="r" b="b" t="t" l="l"/>
            <a:pathLst>
              <a:path h="7939576" w="8929993">
                <a:moveTo>
                  <a:pt x="0" y="0"/>
                </a:moveTo>
                <a:lnTo>
                  <a:pt x="8929993" y="0"/>
                </a:lnTo>
                <a:lnTo>
                  <a:pt x="8929993" y="7939576"/>
                </a:lnTo>
                <a:lnTo>
                  <a:pt x="0" y="7939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048267" y="7400056"/>
            <a:ext cx="2576774" cy="4114800"/>
          </a:xfrm>
          <a:custGeom>
            <a:avLst/>
            <a:gdLst/>
            <a:ahLst/>
            <a:cxnLst/>
            <a:rect r="r" b="b" t="t" l="l"/>
            <a:pathLst>
              <a:path h="4114800" w="2576774">
                <a:moveTo>
                  <a:pt x="0" y="0"/>
                </a:moveTo>
                <a:lnTo>
                  <a:pt x="2576773" y="0"/>
                </a:lnTo>
                <a:lnTo>
                  <a:pt x="257677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6062863" y="1187424"/>
            <a:ext cx="8929993" cy="7939576"/>
          </a:xfrm>
          <a:custGeom>
            <a:avLst/>
            <a:gdLst/>
            <a:ahLst/>
            <a:cxnLst/>
            <a:rect r="r" b="b" t="t" l="l"/>
            <a:pathLst>
              <a:path h="7939576" w="8929993">
                <a:moveTo>
                  <a:pt x="8929993" y="0"/>
                </a:moveTo>
                <a:lnTo>
                  <a:pt x="0" y="0"/>
                </a:lnTo>
                <a:lnTo>
                  <a:pt x="0" y="7939576"/>
                </a:lnTo>
                <a:lnTo>
                  <a:pt x="8929993" y="7939576"/>
                </a:lnTo>
                <a:lnTo>
                  <a:pt x="89299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337040" y="7400056"/>
            <a:ext cx="2576774" cy="4114800"/>
          </a:xfrm>
          <a:custGeom>
            <a:avLst/>
            <a:gdLst/>
            <a:ahLst/>
            <a:cxnLst/>
            <a:rect r="r" b="b" t="t" l="l"/>
            <a:pathLst>
              <a:path h="4114800" w="2576774">
                <a:moveTo>
                  <a:pt x="2576773" y="0"/>
                </a:moveTo>
                <a:lnTo>
                  <a:pt x="0" y="0"/>
                </a:lnTo>
                <a:lnTo>
                  <a:pt x="0" y="4114800"/>
                </a:lnTo>
                <a:lnTo>
                  <a:pt x="2576773" y="4114800"/>
                </a:lnTo>
                <a:lnTo>
                  <a:pt x="257677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548074" y="5809655"/>
            <a:ext cx="2576774" cy="4114800"/>
          </a:xfrm>
          <a:custGeom>
            <a:avLst/>
            <a:gdLst/>
            <a:ahLst/>
            <a:cxnLst/>
            <a:rect r="r" b="b" t="t" l="l"/>
            <a:pathLst>
              <a:path h="4114800" w="2576774">
                <a:moveTo>
                  <a:pt x="2576774" y="0"/>
                </a:moveTo>
                <a:lnTo>
                  <a:pt x="0" y="0"/>
                </a:lnTo>
                <a:lnTo>
                  <a:pt x="0" y="4114800"/>
                </a:lnTo>
                <a:lnTo>
                  <a:pt x="2576774" y="4114800"/>
                </a:lnTo>
                <a:lnTo>
                  <a:pt x="25767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7259300" y="5809655"/>
            <a:ext cx="2576774" cy="4114800"/>
          </a:xfrm>
          <a:custGeom>
            <a:avLst/>
            <a:gdLst/>
            <a:ahLst/>
            <a:cxnLst/>
            <a:rect r="r" b="b" t="t" l="l"/>
            <a:pathLst>
              <a:path h="4114800" w="2576774">
                <a:moveTo>
                  <a:pt x="0" y="0"/>
                </a:moveTo>
                <a:lnTo>
                  <a:pt x="2576774" y="0"/>
                </a:lnTo>
                <a:lnTo>
                  <a:pt x="257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526757" y="8394290"/>
            <a:ext cx="19341514" cy="4079301"/>
          </a:xfrm>
          <a:custGeom>
            <a:avLst/>
            <a:gdLst/>
            <a:ahLst/>
            <a:cxnLst/>
            <a:rect r="r" b="b" t="t" l="l"/>
            <a:pathLst>
              <a:path h="4079301" w="19341514">
                <a:moveTo>
                  <a:pt x="0" y="0"/>
                </a:moveTo>
                <a:lnTo>
                  <a:pt x="19341514" y="0"/>
                </a:lnTo>
                <a:lnTo>
                  <a:pt x="19341514" y="4079301"/>
                </a:lnTo>
                <a:lnTo>
                  <a:pt x="0" y="40793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6545932" y="1974382"/>
            <a:ext cx="3354807" cy="851574"/>
          </a:xfrm>
          <a:custGeom>
            <a:avLst/>
            <a:gdLst/>
            <a:ahLst/>
            <a:cxnLst/>
            <a:rect r="r" b="b" t="t" l="l"/>
            <a:pathLst>
              <a:path h="851574" w="3354807">
                <a:moveTo>
                  <a:pt x="0" y="0"/>
                </a:moveTo>
                <a:lnTo>
                  <a:pt x="3354807" y="0"/>
                </a:lnTo>
                <a:lnTo>
                  <a:pt x="3354807" y="851575"/>
                </a:lnTo>
                <a:lnTo>
                  <a:pt x="0" y="85157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612739" y="1974382"/>
            <a:ext cx="3354807" cy="851574"/>
          </a:xfrm>
          <a:custGeom>
            <a:avLst/>
            <a:gdLst/>
            <a:ahLst/>
            <a:cxnLst/>
            <a:rect r="r" b="b" t="t" l="l"/>
            <a:pathLst>
              <a:path h="851574" w="3354807">
                <a:moveTo>
                  <a:pt x="0" y="0"/>
                </a:moveTo>
                <a:lnTo>
                  <a:pt x="3354807" y="0"/>
                </a:lnTo>
                <a:lnTo>
                  <a:pt x="3354807" y="851575"/>
                </a:lnTo>
                <a:lnTo>
                  <a:pt x="0" y="85157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0">
            <a:off x="-1123347" y="-508131"/>
            <a:ext cx="20534694" cy="1536831"/>
            <a:chOff x="0" y="0"/>
            <a:chExt cx="5408314" cy="404762"/>
          </a:xfrm>
        </p:grpSpPr>
        <p:sp>
          <p:nvSpPr>
            <p:cNvPr name="Freeform 14" id="14"/>
            <p:cNvSpPr/>
            <p:nvPr/>
          </p:nvSpPr>
          <p:spPr>
            <a:xfrm flipH="false" flipV="false" rot="0">
              <a:off x="0" y="0"/>
              <a:ext cx="5408314" cy="404762"/>
            </a:xfrm>
            <a:custGeom>
              <a:avLst/>
              <a:gdLst/>
              <a:ahLst/>
              <a:cxnLst/>
              <a:rect r="r" b="b" t="t" l="l"/>
              <a:pathLst>
                <a:path h="404762" w="5408314">
                  <a:moveTo>
                    <a:pt x="0" y="0"/>
                  </a:moveTo>
                  <a:lnTo>
                    <a:pt x="5408314" y="0"/>
                  </a:lnTo>
                  <a:lnTo>
                    <a:pt x="5408314" y="404762"/>
                  </a:lnTo>
                  <a:lnTo>
                    <a:pt x="0" y="404762"/>
                  </a:lnTo>
                  <a:close/>
                </a:path>
              </a:pathLst>
            </a:custGeom>
            <a:solidFill>
              <a:srgbClr val="BCDCDA"/>
            </a:solidFill>
          </p:spPr>
        </p:sp>
        <p:sp>
          <p:nvSpPr>
            <p:cNvPr name="TextBox 15" id="15"/>
            <p:cNvSpPr txBox="true"/>
            <p:nvPr/>
          </p:nvSpPr>
          <p:spPr>
            <a:xfrm>
              <a:off x="0" y="-38100"/>
              <a:ext cx="5408314" cy="44286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2802721" y="3622326"/>
            <a:ext cx="1729695" cy="172969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CDA"/>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9" id="19"/>
          <p:cNvSpPr/>
          <p:nvPr/>
        </p:nvSpPr>
        <p:spPr>
          <a:xfrm flipH="false" flipV="false" rot="0">
            <a:off x="3111166" y="4123995"/>
            <a:ext cx="1112804" cy="726357"/>
          </a:xfrm>
          <a:custGeom>
            <a:avLst/>
            <a:gdLst/>
            <a:ahLst/>
            <a:cxnLst/>
            <a:rect r="r" b="b" t="t" l="l"/>
            <a:pathLst>
              <a:path h="726357" w="1112804">
                <a:moveTo>
                  <a:pt x="0" y="0"/>
                </a:moveTo>
                <a:lnTo>
                  <a:pt x="1112804" y="0"/>
                </a:lnTo>
                <a:lnTo>
                  <a:pt x="1112804" y="726358"/>
                </a:lnTo>
                <a:lnTo>
                  <a:pt x="0" y="7263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0" id="20"/>
          <p:cNvGrpSpPr/>
          <p:nvPr/>
        </p:nvGrpSpPr>
        <p:grpSpPr>
          <a:xfrm rot="0">
            <a:off x="13859039" y="3622326"/>
            <a:ext cx="1729695" cy="172969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CDA"/>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14133113" y="4028609"/>
            <a:ext cx="1139899" cy="917130"/>
          </a:xfrm>
          <a:custGeom>
            <a:avLst/>
            <a:gdLst/>
            <a:ahLst/>
            <a:cxnLst/>
            <a:rect r="r" b="b" t="t" l="l"/>
            <a:pathLst>
              <a:path h="917130" w="1139899">
                <a:moveTo>
                  <a:pt x="0" y="0"/>
                </a:moveTo>
                <a:lnTo>
                  <a:pt x="1139898" y="0"/>
                </a:lnTo>
                <a:lnTo>
                  <a:pt x="1139898" y="917130"/>
                </a:lnTo>
                <a:lnTo>
                  <a:pt x="0" y="9171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4" id="24"/>
          <p:cNvSpPr txBox="true"/>
          <p:nvPr/>
        </p:nvSpPr>
        <p:spPr>
          <a:xfrm rot="0">
            <a:off x="4901824" y="2678713"/>
            <a:ext cx="8587806" cy="4958868"/>
          </a:xfrm>
          <a:prstGeom prst="rect">
            <a:avLst/>
          </a:prstGeom>
        </p:spPr>
        <p:txBody>
          <a:bodyPr anchor="t" rtlCol="false" tIns="0" lIns="0" bIns="0" rIns="0">
            <a:spAutoFit/>
          </a:bodyPr>
          <a:lstStyle/>
          <a:p>
            <a:pPr algn="ctr">
              <a:lnSpc>
                <a:spcPts val="17189"/>
              </a:lnSpc>
            </a:pPr>
            <a:r>
              <a:rPr lang="en-US" b="true" sz="17189">
                <a:solidFill>
                  <a:srgbClr val="000000"/>
                </a:solidFill>
                <a:latin typeface="Cooper Hewitt Bold"/>
                <a:ea typeface="Cooper Hewitt Bold"/>
                <a:cs typeface="Cooper Hewitt Bold"/>
                <a:sym typeface="Cooper Hewitt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DAHQEcM-vAM</dc:identifier>
  <dcterms:modified xsi:type="dcterms:W3CDTF">2011-08-01T06:04:30Z</dcterms:modified>
  <cp:revision>1</cp:revision>
  <dc:title>Pengadaan Server &amp; Infrastruktur Cloud</dc:title>
</cp:coreProperties>
</file>