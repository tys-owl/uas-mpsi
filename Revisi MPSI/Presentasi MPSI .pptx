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Chau Philomene" charset="1" panose="02000806040000020003"/>
      <p:regular r:id="rId18"/>
    </p:embeddedFont>
    <p:embeddedFont>
      <p:font typeface="Tenor Sans"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11" Target="../media/image8.svg" Type="http://schemas.openxmlformats.org/officeDocument/2006/relationships/image"/><Relationship Id="rId12" Target="../media/image9.png" Type="http://schemas.openxmlformats.org/officeDocument/2006/relationships/image"/><Relationship Id="rId13" Target="../media/image10.svg" Type="http://schemas.openxmlformats.org/officeDocument/2006/relationships/image"/><Relationship Id="rId2" Target="../media/image13.png" Type="http://schemas.openxmlformats.org/officeDocument/2006/relationships/image"/><Relationship Id="rId3" Target="../media/image1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2" Target="../media/image25.png" Type="http://schemas.openxmlformats.org/officeDocument/2006/relationships/image"/><Relationship Id="rId3" Target="../media/image2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3.png" Type="http://schemas.openxmlformats.org/officeDocument/2006/relationships/image"/><Relationship Id="rId9"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27.png" Type="http://schemas.openxmlformats.org/officeDocument/2006/relationships/image"/><Relationship Id="rId13" Target="../media/image2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png" Type="http://schemas.openxmlformats.org/officeDocument/2006/relationships/image"/><Relationship Id="rId11" Target="../media/image3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1.png" Type="http://schemas.openxmlformats.org/officeDocument/2006/relationships/image"/><Relationship Id="rId11" Target="../media/image3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33.png" Type="http://schemas.openxmlformats.org/officeDocument/2006/relationships/image"/><Relationship Id="rId13" Target="../media/image3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7.png" Type="http://schemas.openxmlformats.org/officeDocument/2006/relationships/image"/><Relationship Id="rId11" Target="../media/image38.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3.png" Type="http://schemas.openxmlformats.org/officeDocument/2006/relationships/image"/><Relationship Id="rId7" Target="../media/image4.svg" Type="http://schemas.openxmlformats.org/officeDocument/2006/relationships/image"/><Relationship Id="rId8" Target="../media/image5.png" Type="http://schemas.openxmlformats.org/officeDocument/2006/relationships/image"/><Relationship Id="rId9" Target="../media/image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0">
            <a:off x="-3072447" y="-1312537"/>
            <a:ext cx="12912074" cy="1291207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159581" y="914035"/>
            <a:ext cx="984419" cy="988012"/>
          </a:xfrm>
          <a:custGeom>
            <a:avLst/>
            <a:gdLst/>
            <a:ahLst/>
            <a:cxnLst/>
            <a:rect r="r" b="b" t="t" l="l"/>
            <a:pathLst>
              <a:path h="988012" w="984419">
                <a:moveTo>
                  <a:pt x="0" y="0"/>
                </a:moveTo>
                <a:lnTo>
                  <a:pt x="984419" y="0"/>
                </a:lnTo>
                <a:lnTo>
                  <a:pt x="984419" y="988011"/>
                </a:lnTo>
                <a:lnTo>
                  <a:pt x="0" y="988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354550" y="8255104"/>
            <a:ext cx="1427769" cy="1432980"/>
          </a:xfrm>
          <a:custGeom>
            <a:avLst/>
            <a:gdLst/>
            <a:ahLst/>
            <a:cxnLst/>
            <a:rect r="r" b="b" t="t" l="l"/>
            <a:pathLst>
              <a:path h="1432980" w="1427769">
                <a:moveTo>
                  <a:pt x="0" y="0"/>
                </a:moveTo>
                <a:lnTo>
                  <a:pt x="1427769" y="0"/>
                </a:lnTo>
                <a:lnTo>
                  <a:pt x="1427769" y="1432979"/>
                </a:lnTo>
                <a:lnTo>
                  <a:pt x="0" y="1432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028700" y="8991599"/>
            <a:ext cx="1939647" cy="266701"/>
          </a:xfrm>
          <a:custGeom>
            <a:avLst/>
            <a:gdLst/>
            <a:ahLst/>
            <a:cxnLst/>
            <a:rect r="r" b="b" t="t" l="l"/>
            <a:pathLst>
              <a:path h="266701" w="1939647">
                <a:moveTo>
                  <a:pt x="0" y="0"/>
                </a:moveTo>
                <a:lnTo>
                  <a:pt x="1939647" y="0"/>
                </a:lnTo>
                <a:lnTo>
                  <a:pt x="1939647" y="266701"/>
                </a:lnTo>
                <a:lnTo>
                  <a:pt x="0" y="2667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7220473" y="0"/>
            <a:ext cx="1067527" cy="1067527"/>
          </a:xfrm>
          <a:custGeom>
            <a:avLst/>
            <a:gdLst/>
            <a:ahLst/>
            <a:cxnLst/>
            <a:rect r="r" b="b" t="t" l="l"/>
            <a:pathLst>
              <a:path h="1067527" w="1067527">
                <a:moveTo>
                  <a:pt x="0" y="0"/>
                </a:moveTo>
                <a:lnTo>
                  <a:pt x="1067527" y="0"/>
                </a:lnTo>
                <a:lnTo>
                  <a:pt x="1067527" y="1067527"/>
                </a:lnTo>
                <a:lnTo>
                  <a:pt x="0" y="10675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94120">
            <a:off x="-1083462" y="23322"/>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691041" y="2745643"/>
            <a:ext cx="8810927" cy="4376236"/>
          </a:xfrm>
          <a:prstGeom prst="rect">
            <a:avLst/>
          </a:prstGeom>
        </p:spPr>
        <p:txBody>
          <a:bodyPr anchor="t" rtlCol="false" tIns="0" lIns="0" bIns="0" rIns="0">
            <a:spAutoFit/>
          </a:bodyPr>
          <a:lstStyle/>
          <a:p>
            <a:pPr algn="l">
              <a:lnSpc>
                <a:spcPts val="8619"/>
              </a:lnSpc>
            </a:pPr>
            <a:r>
              <a:rPr lang="en-US" sz="7835">
                <a:solidFill>
                  <a:srgbClr val="3D3D3D"/>
                </a:solidFill>
                <a:latin typeface="Chau Philomene"/>
                <a:ea typeface="Chau Philomene"/>
                <a:cs typeface="Chau Philomene"/>
                <a:sym typeface="Chau Philomene"/>
              </a:rPr>
              <a:t>Pengadaan Server dan Infrastruktur Cloud pada Bisnis Photo Booth MomentLab</a:t>
            </a:r>
          </a:p>
        </p:txBody>
      </p:sp>
      <p:sp>
        <p:nvSpPr>
          <p:cNvPr name="Freeform 11" id="11"/>
          <p:cNvSpPr/>
          <p:nvPr/>
        </p:nvSpPr>
        <p:spPr>
          <a:xfrm flipH="false" flipV="false" rot="0">
            <a:off x="10201577" y="1772196"/>
            <a:ext cx="7018896" cy="6482908"/>
          </a:xfrm>
          <a:custGeom>
            <a:avLst/>
            <a:gdLst/>
            <a:ahLst/>
            <a:cxnLst/>
            <a:rect r="r" b="b" t="t" l="l"/>
            <a:pathLst>
              <a:path h="6482908" w="7018896">
                <a:moveTo>
                  <a:pt x="0" y="0"/>
                </a:moveTo>
                <a:lnTo>
                  <a:pt x="7018896" y="0"/>
                </a:lnTo>
                <a:lnTo>
                  <a:pt x="7018896" y="6482908"/>
                </a:lnTo>
                <a:lnTo>
                  <a:pt x="0" y="64829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108707"/>
            <a:ext cx="6407433" cy="6069587"/>
          </a:xfrm>
          <a:custGeom>
            <a:avLst/>
            <a:gdLst/>
            <a:ahLst/>
            <a:cxnLst/>
            <a:rect r="r" b="b" t="t" l="l"/>
            <a:pathLst>
              <a:path h="6069587" w="6407433">
                <a:moveTo>
                  <a:pt x="0" y="0"/>
                </a:moveTo>
                <a:lnTo>
                  <a:pt x="6407433" y="0"/>
                </a:lnTo>
                <a:lnTo>
                  <a:pt x="6407433" y="6069586"/>
                </a:lnTo>
                <a:lnTo>
                  <a:pt x="0" y="60695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710334" y="-1312537"/>
            <a:ext cx="12912074" cy="12912074"/>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9687354" y="534694"/>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7354550" y="8255104"/>
            <a:ext cx="1427769" cy="1432980"/>
          </a:xfrm>
          <a:custGeom>
            <a:avLst/>
            <a:gdLst/>
            <a:ahLst/>
            <a:cxnLst/>
            <a:rect r="r" b="b" t="t" l="l"/>
            <a:pathLst>
              <a:path h="1432980" w="1427769">
                <a:moveTo>
                  <a:pt x="0" y="0"/>
                </a:moveTo>
                <a:lnTo>
                  <a:pt x="1427769" y="0"/>
                </a:lnTo>
                <a:lnTo>
                  <a:pt x="1427769" y="1432979"/>
                </a:lnTo>
                <a:lnTo>
                  <a:pt x="0" y="143297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19653" y="895349"/>
            <a:ext cx="1939647" cy="266701"/>
          </a:xfrm>
          <a:custGeom>
            <a:avLst/>
            <a:gdLst/>
            <a:ahLst/>
            <a:cxnLst/>
            <a:rect r="r" b="b" t="t" l="l"/>
            <a:pathLst>
              <a:path h="266701" w="1939647">
                <a:moveTo>
                  <a:pt x="0" y="0"/>
                </a:moveTo>
                <a:lnTo>
                  <a:pt x="1939647" y="0"/>
                </a:lnTo>
                <a:lnTo>
                  <a:pt x="1939647" y="266702"/>
                </a:lnTo>
                <a:lnTo>
                  <a:pt x="0" y="26670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5400000">
            <a:off x="0" y="8904919"/>
            <a:ext cx="1382081" cy="1382081"/>
          </a:xfrm>
          <a:custGeom>
            <a:avLst/>
            <a:gdLst/>
            <a:ahLst/>
            <a:cxnLst/>
            <a:rect r="r" b="b" t="t" l="l"/>
            <a:pathLst>
              <a:path h="1382081" w="1382081">
                <a:moveTo>
                  <a:pt x="0" y="0"/>
                </a:moveTo>
                <a:lnTo>
                  <a:pt x="1382081" y="0"/>
                </a:lnTo>
                <a:lnTo>
                  <a:pt x="1382081" y="1382081"/>
                </a:lnTo>
                <a:lnTo>
                  <a:pt x="0" y="138208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2194120">
            <a:off x="-1083462" y="23322"/>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
        <p:nvSpPr>
          <p:cNvPr name="TextBox 11" id="11"/>
          <p:cNvSpPr txBox="true"/>
          <p:nvPr/>
        </p:nvSpPr>
        <p:spPr>
          <a:xfrm rot="0">
            <a:off x="10179563" y="1860205"/>
            <a:ext cx="5972865" cy="818763"/>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Pendahuluan</a:t>
            </a:r>
          </a:p>
        </p:txBody>
      </p:sp>
      <p:sp>
        <p:nvSpPr>
          <p:cNvPr name="TextBox 12" id="12"/>
          <p:cNvSpPr txBox="true"/>
          <p:nvPr/>
        </p:nvSpPr>
        <p:spPr>
          <a:xfrm rot="0">
            <a:off x="8094984" y="2839608"/>
            <a:ext cx="8600715" cy="6848475"/>
          </a:xfrm>
          <a:prstGeom prst="rect">
            <a:avLst/>
          </a:prstGeom>
        </p:spPr>
        <p:txBody>
          <a:bodyPr anchor="t" rtlCol="false" tIns="0" lIns="0" bIns="0" rIns="0">
            <a:spAutoFit/>
          </a:bodyPr>
          <a:lstStyle/>
          <a:p>
            <a:pPr algn="l">
              <a:lnSpc>
                <a:spcPts val="4500"/>
              </a:lnSpc>
            </a:pPr>
            <a:r>
              <a:rPr lang="en-US" sz="3000">
                <a:solidFill>
                  <a:srgbClr val="3D3D3D"/>
                </a:solidFill>
                <a:latin typeface="Tenor Sans"/>
                <a:ea typeface="Tenor Sans"/>
                <a:cs typeface="Tenor Sans"/>
                <a:sym typeface="Tenor Sans"/>
              </a:rPr>
              <a:t>M</a:t>
            </a:r>
            <a:r>
              <a:rPr lang="en-US" sz="3000">
                <a:solidFill>
                  <a:srgbClr val="3D3D3D"/>
                </a:solidFill>
                <a:latin typeface="Tenor Sans"/>
                <a:ea typeface="Tenor Sans"/>
                <a:cs typeface="Tenor Sans"/>
                <a:sym typeface="Tenor Sans"/>
              </a:rPr>
              <a:t>omentLab merupakan bisnis photo booth swalayan yang memiliki tiga cabang. Saat ini seluruh foto pelanggan masih disimpan di PC lokal sehingga penyimpanan cepat penuh. Akibatnya sistem menjadi lambat, bahkan dapat mengalami hang ketika digunakan pelanggan. Untuk mengatasi masalah tersebut, proyek ini membangun infrastruktur server lokal dan cloud agar penyimpanan lebih aman, proses sinkronisasi berjalan otomatis, serta pelanggan dapat mengunduh foto melalui QR Code dengan lebih cepat.</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145198" y="0"/>
            <a:ext cx="2142802" cy="2142802"/>
          </a:xfrm>
          <a:custGeom>
            <a:avLst/>
            <a:gdLst/>
            <a:ahLst/>
            <a:cxnLst/>
            <a:rect r="r" b="b" t="t" l="l"/>
            <a:pathLst>
              <a:path h="2142802" w="2142802">
                <a:moveTo>
                  <a:pt x="0" y="0"/>
                </a:moveTo>
                <a:lnTo>
                  <a:pt x="2142802" y="0"/>
                </a:lnTo>
                <a:lnTo>
                  <a:pt x="2142802" y="2142802"/>
                </a:lnTo>
                <a:lnTo>
                  <a:pt x="0" y="2142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2194120">
            <a:off x="17042190" y="5510453"/>
            <a:ext cx="3549006" cy="1772928"/>
          </a:xfrm>
          <a:custGeom>
            <a:avLst/>
            <a:gdLst/>
            <a:ahLst/>
            <a:cxnLst/>
            <a:rect r="r" b="b" t="t" l="l"/>
            <a:pathLst>
              <a:path h="1772928" w="3549006">
                <a:moveTo>
                  <a:pt x="0" y="0"/>
                </a:moveTo>
                <a:lnTo>
                  <a:pt x="3549005" y="0"/>
                </a:lnTo>
                <a:lnTo>
                  <a:pt x="3549005"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713261">
            <a:off x="-1774503" y="691455"/>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925091" y="1873688"/>
            <a:ext cx="7364386" cy="6172694"/>
          </a:xfrm>
          <a:custGeom>
            <a:avLst/>
            <a:gdLst/>
            <a:ahLst/>
            <a:cxnLst/>
            <a:rect r="r" b="b" t="t" l="l"/>
            <a:pathLst>
              <a:path h="6172694" w="7364386">
                <a:moveTo>
                  <a:pt x="0" y="0"/>
                </a:moveTo>
                <a:lnTo>
                  <a:pt x="7364385" y="0"/>
                </a:lnTo>
                <a:lnTo>
                  <a:pt x="7364385" y="6172694"/>
                </a:lnTo>
                <a:lnTo>
                  <a:pt x="0" y="61726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16863369" y="7044736"/>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432104" y="-362268"/>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434720" y="9258300"/>
            <a:ext cx="19251412" cy="1580516"/>
            <a:chOff x="0" y="0"/>
            <a:chExt cx="5070331" cy="416268"/>
          </a:xfrm>
        </p:grpSpPr>
        <p:sp>
          <p:nvSpPr>
            <p:cNvPr name="Freeform 9" id="9"/>
            <p:cNvSpPr/>
            <p:nvPr/>
          </p:nvSpPr>
          <p:spPr>
            <a:xfrm flipH="false" flipV="false" rot="0">
              <a:off x="0" y="0"/>
              <a:ext cx="5070331" cy="416268"/>
            </a:xfrm>
            <a:custGeom>
              <a:avLst/>
              <a:gdLst/>
              <a:ahLst/>
              <a:cxnLst/>
              <a:rect r="r" b="b" t="t" l="l"/>
              <a:pathLst>
                <a:path h="416268" w="5070331">
                  <a:moveTo>
                    <a:pt x="0" y="0"/>
                  </a:moveTo>
                  <a:lnTo>
                    <a:pt x="5070331" y="0"/>
                  </a:lnTo>
                  <a:lnTo>
                    <a:pt x="5070331" y="416268"/>
                  </a:lnTo>
                  <a:lnTo>
                    <a:pt x="0" y="416268"/>
                  </a:lnTo>
                  <a:close/>
                </a:path>
              </a:pathLst>
            </a:custGeom>
            <a:solidFill>
              <a:srgbClr val="FFFFFF"/>
            </a:solidFill>
            <a:ln cap="sq">
              <a:noFill/>
              <a:prstDash val="solid"/>
              <a:miter/>
            </a:ln>
          </p:spPr>
        </p:sp>
        <p:sp>
          <p:nvSpPr>
            <p:cNvPr name="TextBox 10" id="10"/>
            <p:cNvSpPr txBox="true"/>
            <p:nvPr/>
          </p:nvSpPr>
          <p:spPr>
            <a:xfrm>
              <a:off x="0" y="-38100"/>
              <a:ext cx="5070331" cy="4543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1" id="11"/>
          <p:cNvSpPr txBox="true"/>
          <p:nvPr/>
        </p:nvSpPr>
        <p:spPr>
          <a:xfrm rot="0">
            <a:off x="1416523" y="1128551"/>
            <a:ext cx="5809841" cy="1621125"/>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Inisiasi Proyek dan Busin</a:t>
            </a:r>
            <a:r>
              <a:rPr lang="en-US" sz="5791">
                <a:solidFill>
                  <a:srgbClr val="3D3D3D"/>
                </a:solidFill>
                <a:latin typeface="Chau Philomene"/>
                <a:ea typeface="Chau Philomene"/>
                <a:cs typeface="Chau Philomene"/>
                <a:sym typeface="Chau Philomene"/>
              </a:rPr>
              <a:t>ess Case</a:t>
            </a:r>
          </a:p>
        </p:txBody>
      </p:sp>
      <p:sp>
        <p:nvSpPr>
          <p:cNvPr name="TextBox 12" id="12"/>
          <p:cNvSpPr txBox="true"/>
          <p:nvPr/>
        </p:nvSpPr>
        <p:spPr>
          <a:xfrm rot="0">
            <a:off x="1301760" y="3140935"/>
            <a:ext cx="7889226" cy="6084457"/>
          </a:xfrm>
          <a:prstGeom prst="rect">
            <a:avLst/>
          </a:prstGeom>
        </p:spPr>
        <p:txBody>
          <a:bodyPr anchor="t" rtlCol="false" tIns="0" lIns="0" bIns="0" rIns="0">
            <a:spAutoFit/>
          </a:bodyPr>
          <a:lstStyle/>
          <a:p>
            <a:pPr algn="l">
              <a:lnSpc>
                <a:spcPts val="3749"/>
              </a:lnSpc>
            </a:pPr>
            <a:r>
              <a:rPr lang="en-US" sz="2499">
                <a:solidFill>
                  <a:srgbClr val="3D3D3D"/>
                </a:solidFill>
                <a:latin typeface="Tenor Sans"/>
                <a:ea typeface="Tenor Sans"/>
                <a:cs typeface="Tenor Sans"/>
                <a:sym typeface="Tenor Sans"/>
              </a:rPr>
              <a:t>Pr</a:t>
            </a:r>
            <a:r>
              <a:rPr lang="en-US" sz="2499">
                <a:solidFill>
                  <a:srgbClr val="3D3D3D"/>
                </a:solidFill>
                <a:latin typeface="Tenor Sans"/>
                <a:ea typeface="Tenor Sans"/>
                <a:cs typeface="Tenor Sans"/>
                <a:sym typeface="Tenor Sans"/>
              </a:rPr>
              <a:t>oyek ini bertujuan membangun infrastruktur server dan cloud untuk meningkatkan performa operasional MomentLab.</a:t>
            </a:r>
          </a:p>
          <a:p>
            <a:pPr algn="l">
              <a:lnSpc>
                <a:spcPts val="3749"/>
              </a:lnSpc>
            </a:pPr>
            <a:r>
              <a:rPr lang="en-US" sz="2499">
                <a:solidFill>
                  <a:srgbClr val="3D3D3D"/>
                </a:solidFill>
                <a:latin typeface="Tenor Sans"/>
                <a:ea typeface="Tenor Sans"/>
                <a:cs typeface="Tenor Sans"/>
                <a:sym typeface="Tenor Sans"/>
              </a:rPr>
              <a:t>Target utama:</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Menghilangkan lag dan hang pada booth.</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Menyimpan seluruh data transaksi secara terpusat.</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Mempercepat proses unduh foto pelanggan.</a:t>
            </a:r>
          </a:p>
          <a:p>
            <a:pPr algn="l">
              <a:lnSpc>
                <a:spcPts val="3749"/>
              </a:lnSpc>
            </a:pPr>
            <a:r>
              <a:rPr lang="en-US" sz="2499">
                <a:solidFill>
                  <a:srgbClr val="3D3D3D"/>
                </a:solidFill>
                <a:latin typeface="Tenor Sans"/>
                <a:ea typeface="Tenor Sans"/>
                <a:cs typeface="Tenor Sans"/>
                <a:sym typeface="Tenor Sans"/>
              </a:rPr>
              <a:t>Ruang lingkup proyek meliputi pengadaan Mini PC Server, Cloud Storage, VPN, auto-sync, auto-purge, dan QR Code download. Estimasi biaya proyek sebesar Rp32 juta dengan durasi 6 minggu.</a:t>
            </a:r>
          </a:p>
          <a:p>
            <a:pPr algn="l">
              <a:lnSpc>
                <a:spcPts val="3908"/>
              </a:lnSpc>
            </a:pPr>
          </a:p>
        </p:txBody>
      </p:sp>
      <p:sp>
        <p:nvSpPr>
          <p:cNvPr name="Freeform 13" id="13"/>
          <p:cNvSpPr/>
          <p:nvPr/>
        </p:nvSpPr>
        <p:spPr>
          <a:xfrm flipH="false" flipV="false" rot="0">
            <a:off x="494458" y="9661614"/>
            <a:ext cx="1844128" cy="253568"/>
          </a:xfrm>
          <a:custGeom>
            <a:avLst/>
            <a:gdLst/>
            <a:ahLst/>
            <a:cxnLst/>
            <a:rect r="r" b="b" t="t" l="l"/>
            <a:pathLst>
              <a:path h="253568" w="1844128">
                <a:moveTo>
                  <a:pt x="0" y="0"/>
                </a:moveTo>
                <a:lnTo>
                  <a:pt x="1844129" y="0"/>
                </a:lnTo>
                <a:lnTo>
                  <a:pt x="1844129" y="253567"/>
                </a:lnTo>
                <a:lnTo>
                  <a:pt x="0" y="25356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transition spd="slow">
    <p:push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0">
            <a:off x="2100941" y="2265698"/>
            <a:ext cx="6253724" cy="6501982"/>
          </a:xfrm>
          <a:custGeom>
            <a:avLst/>
            <a:gdLst/>
            <a:ahLst/>
            <a:cxnLst/>
            <a:rect r="r" b="b" t="t" l="l"/>
            <a:pathLst>
              <a:path h="6501982" w="6253724">
                <a:moveTo>
                  <a:pt x="0" y="0"/>
                </a:moveTo>
                <a:lnTo>
                  <a:pt x="6253725" y="0"/>
                </a:lnTo>
                <a:lnTo>
                  <a:pt x="6253725" y="6501981"/>
                </a:lnTo>
                <a:lnTo>
                  <a:pt x="0" y="65019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5400000">
            <a:off x="12598060" y="4568900"/>
            <a:ext cx="10948564" cy="1149200"/>
            <a:chOff x="0" y="0"/>
            <a:chExt cx="2883572" cy="302670"/>
          </a:xfrm>
        </p:grpSpPr>
        <p:sp>
          <p:nvSpPr>
            <p:cNvPr name="Freeform 4" id="4"/>
            <p:cNvSpPr/>
            <p:nvPr/>
          </p:nvSpPr>
          <p:spPr>
            <a:xfrm flipH="false" flipV="false" rot="0">
              <a:off x="0" y="0"/>
              <a:ext cx="2883572" cy="302670"/>
            </a:xfrm>
            <a:custGeom>
              <a:avLst/>
              <a:gdLst/>
              <a:ahLst/>
              <a:cxnLst/>
              <a:rect r="r" b="b" t="t" l="l"/>
              <a:pathLst>
                <a:path h="302670" w="2883572">
                  <a:moveTo>
                    <a:pt x="0" y="0"/>
                  </a:moveTo>
                  <a:lnTo>
                    <a:pt x="2883572" y="0"/>
                  </a:lnTo>
                  <a:lnTo>
                    <a:pt x="2883572" y="302670"/>
                  </a:lnTo>
                  <a:lnTo>
                    <a:pt x="0" y="302670"/>
                  </a:lnTo>
                  <a:close/>
                </a:path>
              </a:pathLst>
            </a:custGeom>
            <a:solidFill>
              <a:srgbClr val="B22F30"/>
            </a:solidFill>
            <a:ln cap="sq">
              <a:noFill/>
              <a:prstDash val="solid"/>
              <a:miter/>
            </a:ln>
          </p:spPr>
        </p:sp>
        <p:sp>
          <p:nvSpPr>
            <p:cNvPr name="TextBox 5" id="5"/>
            <p:cNvSpPr txBox="true"/>
            <p:nvPr/>
          </p:nvSpPr>
          <p:spPr>
            <a:xfrm>
              <a:off x="0" y="-38100"/>
              <a:ext cx="2883572" cy="3407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2898370" y="660400"/>
            <a:ext cx="10912591" cy="784225"/>
          </a:xfrm>
          <a:prstGeom prst="rect">
            <a:avLst/>
          </a:prstGeom>
        </p:spPr>
        <p:txBody>
          <a:bodyPr anchor="t" rtlCol="false" tIns="0" lIns="0" bIns="0" rIns="0">
            <a:spAutoFit/>
          </a:bodyPr>
          <a:lstStyle/>
          <a:p>
            <a:pPr algn="l">
              <a:lnSpc>
                <a:spcPts val="6049"/>
              </a:lnSpc>
            </a:pPr>
            <a:r>
              <a:rPr lang="en-US" sz="5499">
                <a:solidFill>
                  <a:srgbClr val="3D3D3D"/>
                </a:solidFill>
                <a:latin typeface="Chau Philomene"/>
                <a:ea typeface="Chau Philomene"/>
                <a:cs typeface="Chau Philomene"/>
                <a:sym typeface="Chau Philomene"/>
              </a:rPr>
              <a:t>A</a:t>
            </a:r>
            <a:r>
              <a:rPr lang="en-US" sz="5499">
                <a:solidFill>
                  <a:srgbClr val="3D3D3D"/>
                </a:solidFill>
                <a:latin typeface="Chau Philomene"/>
                <a:ea typeface="Chau Philomene"/>
                <a:cs typeface="Chau Philomene"/>
                <a:sym typeface="Chau Philomene"/>
              </a:rPr>
              <a:t>nalisis Biaya-Manfaat dan Stakeholder</a:t>
            </a:r>
          </a:p>
        </p:txBody>
      </p:sp>
      <p:sp>
        <p:nvSpPr>
          <p:cNvPr name="TextBox 7" id="7"/>
          <p:cNvSpPr txBox="true"/>
          <p:nvPr/>
        </p:nvSpPr>
        <p:spPr>
          <a:xfrm rot="0">
            <a:off x="8529835" y="2007735"/>
            <a:ext cx="6670082" cy="6932181"/>
          </a:xfrm>
          <a:prstGeom prst="rect">
            <a:avLst/>
          </a:prstGeom>
        </p:spPr>
        <p:txBody>
          <a:bodyPr anchor="t" rtlCol="false" tIns="0" lIns="0" bIns="0" rIns="0">
            <a:spAutoFit/>
          </a:bodyPr>
          <a:lstStyle/>
          <a:p>
            <a:pPr algn="l">
              <a:lnSpc>
                <a:spcPts val="3749"/>
              </a:lnSpc>
            </a:pPr>
            <a:r>
              <a:rPr lang="en-US" sz="2499">
                <a:solidFill>
                  <a:srgbClr val="3D3D3D"/>
                </a:solidFill>
                <a:latin typeface="Tenor Sans"/>
                <a:ea typeface="Tenor Sans"/>
                <a:cs typeface="Tenor Sans"/>
                <a:sym typeface="Tenor Sans"/>
              </a:rPr>
              <a:t>Investasi ini m</a:t>
            </a:r>
            <a:r>
              <a:rPr lang="en-US" sz="2499">
                <a:solidFill>
                  <a:srgbClr val="3D3D3D"/>
                </a:solidFill>
                <a:latin typeface="Tenor Sans"/>
                <a:ea typeface="Tenor Sans"/>
                <a:cs typeface="Tenor Sans"/>
                <a:sym typeface="Tenor Sans"/>
              </a:rPr>
              <a:t>emberikan manfaat berupa berkurangnya kehilangan transaksi akibat sistem lambat, penghematan biaya perawatan, serta meningkatkan kepuasan pelanggan.</a:t>
            </a:r>
          </a:p>
          <a:p>
            <a:pPr algn="l">
              <a:lnSpc>
                <a:spcPts val="3749"/>
              </a:lnSpc>
            </a:pPr>
            <a:r>
              <a:rPr lang="en-US" sz="2499">
                <a:solidFill>
                  <a:srgbClr val="3D3D3D"/>
                </a:solidFill>
                <a:latin typeface="Tenor Sans"/>
                <a:ea typeface="Tenor Sans"/>
                <a:cs typeface="Tenor Sans"/>
                <a:sym typeface="Tenor Sans"/>
              </a:rPr>
              <a:t>Hasil analisis menunjukkan:</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Payback Period sekitar 16 bulan.</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ROI sekitar 50% dalam 2 tahun, sehingga proyek dinilai layak dilaksanakan.</a:t>
            </a:r>
          </a:p>
          <a:p>
            <a:pPr algn="l">
              <a:lnSpc>
                <a:spcPts val="3749"/>
              </a:lnSpc>
            </a:pPr>
            <a:r>
              <a:rPr lang="en-US" sz="2499">
                <a:solidFill>
                  <a:srgbClr val="3D3D3D"/>
                </a:solidFill>
                <a:latin typeface="Tenor Sans"/>
                <a:ea typeface="Tenor Sans"/>
                <a:cs typeface="Tenor Sans"/>
                <a:sym typeface="Tenor Sans"/>
              </a:rPr>
              <a:t>Stakeholder utama terdiri dari sponsor, project manager, manager operasional, tim spesialis jaringan, teknisi, pelanggan, vendor hardware, dan penyedia cloud.</a:t>
            </a:r>
          </a:p>
          <a:p>
            <a:pPr algn="l">
              <a:lnSpc>
                <a:spcPts val="3158"/>
              </a:lnSpc>
            </a:pPr>
          </a:p>
        </p:txBody>
      </p:sp>
      <p:sp>
        <p:nvSpPr>
          <p:cNvPr name="Freeform 8" id="8"/>
          <p:cNvSpPr/>
          <p:nvPr/>
        </p:nvSpPr>
        <p:spPr>
          <a:xfrm flipH="false" flipV="false" rot="-5400000">
            <a:off x="0" y="-73325"/>
            <a:ext cx="1927476" cy="1927476"/>
          </a:xfrm>
          <a:custGeom>
            <a:avLst/>
            <a:gdLst/>
            <a:ahLst/>
            <a:cxnLst/>
            <a:rect r="r" b="b" t="t" l="l"/>
            <a:pathLst>
              <a:path h="1927476" w="1927476">
                <a:moveTo>
                  <a:pt x="0" y="0"/>
                </a:moveTo>
                <a:lnTo>
                  <a:pt x="1927476" y="0"/>
                </a:lnTo>
                <a:lnTo>
                  <a:pt x="1927476" y="1927476"/>
                </a:lnTo>
                <a:lnTo>
                  <a:pt x="0" y="192747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8160907">
            <a:off x="-1141487" y="8614376"/>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5538011" y="750742"/>
            <a:ext cx="1099397" cy="1103409"/>
          </a:xfrm>
          <a:custGeom>
            <a:avLst/>
            <a:gdLst/>
            <a:ahLst/>
            <a:cxnLst/>
            <a:rect r="r" b="b" t="t" l="l"/>
            <a:pathLst>
              <a:path h="1103409" w="1099397">
                <a:moveTo>
                  <a:pt x="0" y="0"/>
                </a:moveTo>
                <a:lnTo>
                  <a:pt x="1099396" y="0"/>
                </a:lnTo>
                <a:lnTo>
                  <a:pt x="1099396" y="1103409"/>
                </a:lnTo>
                <a:lnTo>
                  <a:pt x="0" y="11034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4793279" y="9247272"/>
            <a:ext cx="1844128" cy="253568"/>
          </a:xfrm>
          <a:custGeom>
            <a:avLst/>
            <a:gdLst/>
            <a:ahLst/>
            <a:cxnLst/>
            <a:rect r="r" b="b" t="t" l="l"/>
            <a:pathLst>
              <a:path h="253568" w="1844128">
                <a:moveTo>
                  <a:pt x="0" y="0"/>
                </a:moveTo>
                <a:lnTo>
                  <a:pt x="1844128" y="0"/>
                </a:lnTo>
                <a:lnTo>
                  <a:pt x="1844128" y="253568"/>
                </a:lnTo>
                <a:lnTo>
                  <a:pt x="0" y="25356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transition spd="slow">
    <p:push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0">
            <a:off x="8710334" y="-1312537"/>
            <a:ext cx="12912074" cy="1291207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9687354" y="534694"/>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354550" y="8255104"/>
            <a:ext cx="1427769" cy="1432980"/>
          </a:xfrm>
          <a:custGeom>
            <a:avLst/>
            <a:gdLst/>
            <a:ahLst/>
            <a:cxnLst/>
            <a:rect r="r" b="b" t="t" l="l"/>
            <a:pathLst>
              <a:path h="1432980" w="1427769">
                <a:moveTo>
                  <a:pt x="0" y="0"/>
                </a:moveTo>
                <a:lnTo>
                  <a:pt x="1427769" y="0"/>
                </a:lnTo>
                <a:lnTo>
                  <a:pt x="1427769" y="1432979"/>
                </a:lnTo>
                <a:lnTo>
                  <a:pt x="0" y="1432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5319653" y="895349"/>
            <a:ext cx="1939647" cy="266701"/>
          </a:xfrm>
          <a:custGeom>
            <a:avLst/>
            <a:gdLst/>
            <a:ahLst/>
            <a:cxnLst/>
            <a:rect r="r" b="b" t="t" l="l"/>
            <a:pathLst>
              <a:path h="266701" w="1939647">
                <a:moveTo>
                  <a:pt x="0" y="0"/>
                </a:moveTo>
                <a:lnTo>
                  <a:pt x="1939647" y="0"/>
                </a:lnTo>
                <a:lnTo>
                  <a:pt x="1939647" y="266702"/>
                </a:lnTo>
                <a:lnTo>
                  <a:pt x="0" y="266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0" y="8904919"/>
            <a:ext cx="1382081" cy="1382081"/>
          </a:xfrm>
          <a:custGeom>
            <a:avLst/>
            <a:gdLst/>
            <a:ahLst/>
            <a:cxnLst/>
            <a:rect r="r" b="b" t="t" l="l"/>
            <a:pathLst>
              <a:path h="1382081" w="1382081">
                <a:moveTo>
                  <a:pt x="0" y="0"/>
                </a:moveTo>
                <a:lnTo>
                  <a:pt x="1382081" y="0"/>
                </a:lnTo>
                <a:lnTo>
                  <a:pt x="1382081" y="1382081"/>
                </a:lnTo>
                <a:lnTo>
                  <a:pt x="0" y="13820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94120">
            <a:off x="-1083462" y="23322"/>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10671773" y="1579856"/>
            <a:ext cx="6265200" cy="1621125"/>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Perenc</a:t>
            </a:r>
            <a:r>
              <a:rPr lang="en-US" sz="5791">
                <a:solidFill>
                  <a:srgbClr val="3D3D3D"/>
                </a:solidFill>
                <a:latin typeface="Chau Philomene"/>
                <a:ea typeface="Chau Philomene"/>
                <a:cs typeface="Chau Philomene"/>
                <a:sym typeface="Chau Philomene"/>
              </a:rPr>
              <a:t>anaan Lingkup dan WBS</a:t>
            </a:r>
          </a:p>
        </p:txBody>
      </p:sp>
      <p:sp>
        <p:nvSpPr>
          <p:cNvPr name="TextBox 11" id="11"/>
          <p:cNvSpPr txBox="true"/>
          <p:nvPr/>
        </p:nvSpPr>
        <p:spPr>
          <a:xfrm rot="0">
            <a:off x="10671773" y="3477206"/>
            <a:ext cx="6746879" cy="5998731"/>
          </a:xfrm>
          <a:prstGeom prst="rect">
            <a:avLst/>
          </a:prstGeom>
        </p:spPr>
        <p:txBody>
          <a:bodyPr anchor="t" rtlCol="false" tIns="0" lIns="0" bIns="0" rIns="0">
            <a:spAutoFit/>
          </a:bodyPr>
          <a:lstStyle/>
          <a:p>
            <a:pPr algn="l">
              <a:lnSpc>
                <a:spcPts val="3749"/>
              </a:lnSpc>
            </a:pPr>
            <a:r>
              <a:rPr lang="en-US" sz="2499">
                <a:solidFill>
                  <a:srgbClr val="3D3D3D"/>
                </a:solidFill>
                <a:latin typeface="Tenor Sans"/>
                <a:ea typeface="Tenor Sans"/>
                <a:cs typeface="Tenor Sans"/>
                <a:sym typeface="Tenor Sans"/>
              </a:rPr>
              <a:t>Peke</a:t>
            </a:r>
            <a:r>
              <a:rPr lang="en-US" sz="2499">
                <a:solidFill>
                  <a:srgbClr val="3D3D3D"/>
                </a:solidFill>
                <a:latin typeface="Tenor Sans"/>
                <a:ea typeface="Tenor Sans"/>
                <a:cs typeface="Tenor Sans"/>
                <a:sym typeface="Tenor Sans"/>
              </a:rPr>
              <a:t>rjaan proyek dibagi menjadi enam tahap utama:</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Inisiasi dan perancangan.</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Pengadaan hardware dan cloud.</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Konfigurasi sistem.</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Instalasi di tiga cabang.</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Pengujian sistem.</a:t>
            </a:r>
          </a:p>
          <a:p>
            <a:pPr algn="l" marL="539749" indent="-269875" lvl="1">
              <a:lnSpc>
                <a:spcPts val="3749"/>
              </a:lnSpc>
              <a:buAutoNum type="arabicPeriod" startAt="1"/>
            </a:pPr>
            <a:r>
              <a:rPr lang="en-US" sz="2499">
                <a:solidFill>
                  <a:srgbClr val="3D3D3D"/>
                </a:solidFill>
                <a:latin typeface="Tenor Sans"/>
                <a:ea typeface="Tenor Sans"/>
                <a:cs typeface="Tenor Sans"/>
                <a:sym typeface="Tenor Sans"/>
              </a:rPr>
              <a:t>Penutupan proyek dan serah terima.</a:t>
            </a:r>
          </a:p>
          <a:p>
            <a:pPr algn="l">
              <a:lnSpc>
                <a:spcPts val="3749"/>
              </a:lnSpc>
            </a:pPr>
            <a:r>
              <a:rPr lang="en-US" sz="2499">
                <a:solidFill>
                  <a:srgbClr val="3D3D3D"/>
                </a:solidFill>
                <a:latin typeface="Tenor Sans"/>
                <a:ea typeface="Tenor Sans"/>
                <a:cs typeface="Tenor Sans"/>
                <a:sym typeface="Tenor Sans"/>
              </a:rPr>
              <a:t>Fitur utama yang dikembangkan adalah auto-sync, auto-purge, VPN, dashboard monitoring, object storage, dan QR Code untuk unduhan foto.</a:t>
            </a:r>
          </a:p>
          <a:p>
            <a:pPr algn="l" marL="454677" indent="-227339" lvl="1">
              <a:lnSpc>
                <a:spcPts val="3158"/>
              </a:lnSpc>
              <a:buFont typeface="Arial"/>
              <a:buChar char="•"/>
            </a:pPr>
          </a:p>
        </p:txBody>
      </p:sp>
      <p:sp>
        <p:nvSpPr>
          <p:cNvPr name="Freeform 12" id="12"/>
          <p:cNvSpPr/>
          <p:nvPr/>
        </p:nvSpPr>
        <p:spPr>
          <a:xfrm flipH="false" flipV="false" rot="0">
            <a:off x="1382081" y="1925381"/>
            <a:ext cx="8451576" cy="6576863"/>
          </a:xfrm>
          <a:custGeom>
            <a:avLst/>
            <a:gdLst/>
            <a:ahLst/>
            <a:cxnLst/>
            <a:rect r="r" b="b" t="t" l="l"/>
            <a:pathLst>
              <a:path h="6576863" w="8451576">
                <a:moveTo>
                  <a:pt x="0" y="0"/>
                </a:moveTo>
                <a:lnTo>
                  <a:pt x="8451576" y="0"/>
                </a:lnTo>
                <a:lnTo>
                  <a:pt x="8451576" y="6576863"/>
                </a:lnTo>
                <a:lnTo>
                  <a:pt x="0" y="657686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transition spd="slow">
    <p:push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145198" y="0"/>
            <a:ext cx="2142802" cy="2142802"/>
          </a:xfrm>
          <a:custGeom>
            <a:avLst/>
            <a:gdLst/>
            <a:ahLst/>
            <a:cxnLst/>
            <a:rect r="r" b="b" t="t" l="l"/>
            <a:pathLst>
              <a:path h="2142802" w="2142802">
                <a:moveTo>
                  <a:pt x="0" y="0"/>
                </a:moveTo>
                <a:lnTo>
                  <a:pt x="2142802" y="0"/>
                </a:lnTo>
                <a:lnTo>
                  <a:pt x="2142802" y="2142802"/>
                </a:lnTo>
                <a:lnTo>
                  <a:pt x="0" y="2142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2194120">
            <a:off x="17042190" y="5510453"/>
            <a:ext cx="3549006" cy="1772928"/>
          </a:xfrm>
          <a:custGeom>
            <a:avLst/>
            <a:gdLst/>
            <a:ahLst/>
            <a:cxnLst/>
            <a:rect r="r" b="b" t="t" l="l"/>
            <a:pathLst>
              <a:path h="1772928" w="3549006">
                <a:moveTo>
                  <a:pt x="0" y="0"/>
                </a:moveTo>
                <a:lnTo>
                  <a:pt x="3549005" y="0"/>
                </a:lnTo>
                <a:lnTo>
                  <a:pt x="3549005"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713261">
            <a:off x="-1774503" y="691455"/>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863369" y="7044736"/>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32104" y="-362268"/>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434720" y="9258300"/>
            <a:ext cx="19251412" cy="1580516"/>
            <a:chOff x="0" y="0"/>
            <a:chExt cx="5070331" cy="416268"/>
          </a:xfrm>
        </p:grpSpPr>
        <p:sp>
          <p:nvSpPr>
            <p:cNvPr name="Freeform 8" id="8"/>
            <p:cNvSpPr/>
            <p:nvPr/>
          </p:nvSpPr>
          <p:spPr>
            <a:xfrm flipH="false" flipV="false" rot="0">
              <a:off x="0" y="0"/>
              <a:ext cx="5070331" cy="416268"/>
            </a:xfrm>
            <a:custGeom>
              <a:avLst/>
              <a:gdLst/>
              <a:ahLst/>
              <a:cxnLst/>
              <a:rect r="r" b="b" t="t" l="l"/>
              <a:pathLst>
                <a:path h="416268" w="5070331">
                  <a:moveTo>
                    <a:pt x="0" y="0"/>
                  </a:moveTo>
                  <a:lnTo>
                    <a:pt x="5070331" y="0"/>
                  </a:lnTo>
                  <a:lnTo>
                    <a:pt x="5070331" y="416268"/>
                  </a:lnTo>
                  <a:lnTo>
                    <a:pt x="0" y="416268"/>
                  </a:lnTo>
                  <a:close/>
                </a:path>
              </a:pathLst>
            </a:custGeom>
            <a:solidFill>
              <a:srgbClr val="FFFFFF"/>
            </a:solidFill>
            <a:ln cap="sq">
              <a:noFill/>
              <a:prstDash val="solid"/>
              <a:miter/>
            </a:ln>
          </p:spPr>
        </p:sp>
        <p:sp>
          <p:nvSpPr>
            <p:cNvPr name="TextBox 9" id="9"/>
            <p:cNvSpPr txBox="true"/>
            <p:nvPr/>
          </p:nvSpPr>
          <p:spPr>
            <a:xfrm>
              <a:off x="0" y="-38100"/>
              <a:ext cx="5070331" cy="4543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028700" y="1635069"/>
            <a:ext cx="6784355" cy="1621125"/>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Penjadwalan, Metodologi dan Biay</a:t>
            </a:r>
            <a:r>
              <a:rPr lang="en-US" sz="5791">
                <a:solidFill>
                  <a:srgbClr val="3D3D3D"/>
                </a:solidFill>
                <a:latin typeface="Chau Philomene"/>
                <a:ea typeface="Chau Philomene"/>
                <a:cs typeface="Chau Philomene"/>
                <a:sym typeface="Chau Philomene"/>
              </a:rPr>
              <a:t>a</a:t>
            </a:r>
          </a:p>
        </p:txBody>
      </p:sp>
      <p:sp>
        <p:nvSpPr>
          <p:cNvPr name="TextBox 11" id="11"/>
          <p:cNvSpPr txBox="true"/>
          <p:nvPr/>
        </p:nvSpPr>
        <p:spPr>
          <a:xfrm rot="0">
            <a:off x="1028700" y="3422855"/>
            <a:ext cx="7301140" cy="5692027"/>
          </a:xfrm>
          <a:prstGeom prst="rect">
            <a:avLst/>
          </a:prstGeom>
        </p:spPr>
        <p:txBody>
          <a:bodyPr anchor="t" rtlCol="false" tIns="0" lIns="0" bIns="0" rIns="0">
            <a:spAutoFit/>
          </a:bodyPr>
          <a:lstStyle/>
          <a:p>
            <a:pPr algn="l">
              <a:lnSpc>
                <a:spcPts val="4199"/>
              </a:lnSpc>
            </a:pPr>
            <a:r>
              <a:rPr lang="en-US" sz="2799">
                <a:solidFill>
                  <a:srgbClr val="3D3D3D"/>
                </a:solidFill>
                <a:latin typeface="Tenor Sans"/>
                <a:ea typeface="Tenor Sans"/>
                <a:cs typeface="Tenor Sans"/>
                <a:sym typeface="Tenor Sans"/>
              </a:rPr>
              <a:t>Met</a:t>
            </a:r>
            <a:r>
              <a:rPr lang="en-US" sz="2799">
                <a:solidFill>
                  <a:srgbClr val="3D3D3D"/>
                </a:solidFill>
                <a:latin typeface="Tenor Sans"/>
                <a:ea typeface="Tenor Sans"/>
                <a:cs typeface="Tenor Sans"/>
                <a:sym typeface="Tenor Sans"/>
              </a:rPr>
              <a:t>ode yang digunakan adalah Hybrid, yaitu:</a:t>
            </a:r>
          </a:p>
          <a:p>
            <a:pPr algn="l" marL="604518" indent="-302259" lvl="1">
              <a:lnSpc>
                <a:spcPts val="4199"/>
              </a:lnSpc>
              <a:buFont typeface="Arial"/>
              <a:buChar char="•"/>
            </a:pPr>
            <a:r>
              <a:rPr lang="en-US" sz="2799">
                <a:solidFill>
                  <a:srgbClr val="3D3D3D"/>
                </a:solidFill>
                <a:latin typeface="Tenor Sans"/>
                <a:ea typeface="Tenor Sans"/>
                <a:cs typeface="Tenor Sans"/>
                <a:sym typeface="Tenor Sans"/>
              </a:rPr>
              <a:t>Waterfall pada tahap pengadaan.</a:t>
            </a:r>
          </a:p>
          <a:p>
            <a:pPr algn="l" marL="604518" indent="-302259" lvl="1">
              <a:lnSpc>
                <a:spcPts val="4199"/>
              </a:lnSpc>
              <a:buFont typeface="Arial"/>
              <a:buChar char="•"/>
            </a:pPr>
            <a:r>
              <a:rPr lang="en-US" sz="2799">
                <a:solidFill>
                  <a:srgbClr val="3D3D3D"/>
                </a:solidFill>
                <a:latin typeface="Tenor Sans"/>
                <a:ea typeface="Tenor Sans"/>
                <a:cs typeface="Tenor Sans"/>
                <a:sym typeface="Tenor Sans"/>
              </a:rPr>
              <a:t>Pendekatan iteratif saat implementasi di setiap cabang.</a:t>
            </a:r>
          </a:p>
          <a:p>
            <a:pPr algn="l">
              <a:lnSpc>
                <a:spcPts val="4199"/>
              </a:lnSpc>
            </a:pPr>
            <a:r>
              <a:rPr lang="en-US" sz="2799">
                <a:solidFill>
                  <a:srgbClr val="3D3D3D"/>
                </a:solidFill>
                <a:latin typeface="Tenor Sans"/>
                <a:ea typeface="Tenor Sans"/>
                <a:cs typeface="Tenor Sans"/>
                <a:sym typeface="Tenor Sans"/>
              </a:rPr>
              <a:t>Durasi proyek sekitar 40 hari kerja atau sekitar 6 minggu. Estimasi biaya proyek sebesar Rp32 juta, dengan tambahan dana kontingensi sebesar 12% untuk mengantisipasi risiko perubahan harga.</a:t>
            </a:r>
          </a:p>
          <a:p>
            <a:pPr algn="l">
              <a:lnSpc>
                <a:spcPts val="3608"/>
              </a:lnSpc>
            </a:pPr>
          </a:p>
        </p:txBody>
      </p:sp>
      <p:sp>
        <p:nvSpPr>
          <p:cNvPr name="Freeform 12" id="12"/>
          <p:cNvSpPr/>
          <p:nvPr/>
        </p:nvSpPr>
        <p:spPr>
          <a:xfrm flipH="false" flipV="false" rot="0">
            <a:off x="494458" y="9661614"/>
            <a:ext cx="1844128" cy="253568"/>
          </a:xfrm>
          <a:custGeom>
            <a:avLst/>
            <a:gdLst/>
            <a:ahLst/>
            <a:cxnLst/>
            <a:rect r="r" b="b" t="t" l="l"/>
            <a:pathLst>
              <a:path h="253568" w="1844128">
                <a:moveTo>
                  <a:pt x="0" y="0"/>
                </a:moveTo>
                <a:lnTo>
                  <a:pt x="1844129" y="0"/>
                </a:lnTo>
                <a:lnTo>
                  <a:pt x="1844129" y="253567"/>
                </a:lnTo>
                <a:lnTo>
                  <a:pt x="0" y="2535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3" id="13"/>
          <p:cNvSpPr/>
          <p:nvPr/>
        </p:nvSpPr>
        <p:spPr>
          <a:xfrm flipH="false" flipV="false" rot="0">
            <a:off x="8972893" y="1542120"/>
            <a:ext cx="6360816" cy="6490628"/>
          </a:xfrm>
          <a:custGeom>
            <a:avLst/>
            <a:gdLst/>
            <a:ahLst/>
            <a:cxnLst/>
            <a:rect r="r" b="b" t="t" l="l"/>
            <a:pathLst>
              <a:path h="6490628" w="6360816">
                <a:moveTo>
                  <a:pt x="0" y="0"/>
                </a:moveTo>
                <a:lnTo>
                  <a:pt x="6360815" y="0"/>
                </a:lnTo>
                <a:lnTo>
                  <a:pt x="6360815" y="6490628"/>
                </a:lnTo>
                <a:lnTo>
                  <a:pt x="0" y="64906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transition spd="slow">
    <p:push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5400000">
            <a:off x="12598060" y="4568900"/>
            <a:ext cx="10948564" cy="1149200"/>
            <a:chOff x="0" y="0"/>
            <a:chExt cx="2883572" cy="302670"/>
          </a:xfrm>
        </p:grpSpPr>
        <p:sp>
          <p:nvSpPr>
            <p:cNvPr name="Freeform 3" id="3"/>
            <p:cNvSpPr/>
            <p:nvPr/>
          </p:nvSpPr>
          <p:spPr>
            <a:xfrm flipH="false" flipV="false" rot="0">
              <a:off x="0" y="0"/>
              <a:ext cx="2883572" cy="302670"/>
            </a:xfrm>
            <a:custGeom>
              <a:avLst/>
              <a:gdLst/>
              <a:ahLst/>
              <a:cxnLst/>
              <a:rect r="r" b="b" t="t" l="l"/>
              <a:pathLst>
                <a:path h="302670" w="2883572">
                  <a:moveTo>
                    <a:pt x="0" y="0"/>
                  </a:moveTo>
                  <a:lnTo>
                    <a:pt x="2883572" y="0"/>
                  </a:lnTo>
                  <a:lnTo>
                    <a:pt x="2883572" y="302670"/>
                  </a:lnTo>
                  <a:lnTo>
                    <a:pt x="0" y="302670"/>
                  </a:lnTo>
                  <a:close/>
                </a:path>
              </a:pathLst>
            </a:custGeom>
            <a:solidFill>
              <a:srgbClr val="B22F30"/>
            </a:solidFill>
            <a:ln cap="sq">
              <a:noFill/>
              <a:prstDash val="solid"/>
              <a:miter/>
            </a:ln>
          </p:spPr>
        </p:sp>
        <p:sp>
          <p:nvSpPr>
            <p:cNvPr name="TextBox 4" id="4"/>
            <p:cNvSpPr txBox="true"/>
            <p:nvPr/>
          </p:nvSpPr>
          <p:spPr>
            <a:xfrm>
              <a:off x="0" y="-38100"/>
              <a:ext cx="2883572" cy="3407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2640920" y="1359597"/>
            <a:ext cx="9072816" cy="818763"/>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Ma</a:t>
            </a:r>
            <a:r>
              <a:rPr lang="en-US" sz="5791">
                <a:solidFill>
                  <a:srgbClr val="3D3D3D"/>
                </a:solidFill>
                <a:latin typeface="Chau Philomene"/>
                <a:ea typeface="Chau Philomene"/>
                <a:cs typeface="Chau Philomene"/>
                <a:sym typeface="Chau Philomene"/>
              </a:rPr>
              <a:t>najemen Risiko dan Kualitas</a:t>
            </a:r>
          </a:p>
        </p:txBody>
      </p:sp>
      <p:sp>
        <p:nvSpPr>
          <p:cNvPr name="Freeform 6" id="6"/>
          <p:cNvSpPr/>
          <p:nvPr/>
        </p:nvSpPr>
        <p:spPr>
          <a:xfrm flipH="false" flipV="false" rot="-5400000">
            <a:off x="0" y="-73325"/>
            <a:ext cx="1927476" cy="1927476"/>
          </a:xfrm>
          <a:custGeom>
            <a:avLst/>
            <a:gdLst/>
            <a:ahLst/>
            <a:cxnLst/>
            <a:rect r="r" b="b" t="t" l="l"/>
            <a:pathLst>
              <a:path h="1927476" w="1927476">
                <a:moveTo>
                  <a:pt x="0" y="0"/>
                </a:moveTo>
                <a:lnTo>
                  <a:pt x="1927476" y="0"/>
                </a:lnTo>
                <a:lnTo>
                  <a:pt x="1927476" y="1927476"/>
                </a:lnTo>
                <a:lnTo>
                  <a:pt x="0" y="1927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8160907">
            <a:off x="-1141487" y="8614376"/>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5538011" y="750742"/>
            <a:ext cx="1099397" cy="1103409"/>
          </a:xfrm>
          <a:custGeom>
            <a:avLst/>
            <a:gdLst/>
            <a:ahLst/>
            <a:cxnLst/>
            <a:rect r="r" b="b" t="t" l="l"/>
            <a:pathLst>
              <a:path h="1103409" w="1099397">
                <a:moveTo>
                  <a:pt x="0" y="0"/>
                </a:moveTo>
                <a:lnTo>
                  <a:pt x="1099396" y="0"/>
                </a:lnTo>
                <a:lnTo>
                  <a:pt x="1099396" y="1103409"/>
                </a:lnTo>
                <a:lnTo>
                  <a:pt x="0" y="11034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4793279" y="9247272"/>
            <a:ext cx="1844128" cy="253568"/>
          </a:xfrm>
          <a:custGeom>
            <a:avLst/>
            <a:gdLst/>
            <a:ahLst/>
            <a:cxnLst/>
            <a:rect r="r" b="b" t="t" l="l"/>
            <a:pathLst>
              <a:path h="253568" w="1844128">
                <a:moveTo>
                  <a:pt x="0" y="0"/>
                </a:moveTo>
                <a:lnTo>
                  <a:pt x="1844128" y="0"/>
                </a:lnTo>
                <a:lnTo>
                  <a:pt x="1844128" y="253568"/>
                </a:lnTo>
                <a:lnTo>
                  <a:pt x="0" y="253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33016" y="2908279"/>
            <a:ext cx="7192405" cy="5466227"/>
          </a:xfrm>
          <a:custGeom>
            <a:avLst/>
            <a:gdLst/>
            <a:ahLst/>
            <a:cxnLst/>
            <a:rect r="r" b="b" t="t" l="l"/>
            <a:pathLst>
              <a:path h="5466227" w="7192405">
                <a:moveTo>
                  <a:pt x="0" y="0"/>
                </a:moveTo>
                <a:lnTo>
                  <a:pt x="7192404" y="0"/>
                </a:lnTo>
                <a:lnTo>
                  <a:pt x="7192404" y="5466228"/>
                </a:lnTo>
                <a:lnTo>
                  <a:pt x="0" y="54662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1" id="11"/>
          <p:cNvSpPr txBox="true"/>
          <p:nvPr/>
        </p:nvSpPr>
        <p:spPr>
          <a:xfrm rot="0">
            <a:off x="8322917" y="2509490"/>
            <a:ext cx="6781637" cy="6991350"/>
          </a:xfrm>
          <a:prstGeom prst="rect">
            <a:avLst/>
          </a:prstGeom>
        </p:spPr>
        <p:txBody>
          <a:bodyPr anchor="t" rtlCol="false" tIns="0" lIns="0" bIns="0" rIns="0">
            <a:spAutoFit/>
          </a:bodyPr>
          <a:lstStyle/>
          <a:p>
            <a:pPr algn="l">
              <a:lnSpc>
                <a:spcPts val="3749"/>
              </a:lnSpc>
            </a:pPr>
            <a:r>
              <a:rPr lang="en-US" sz="2499">
                <a:solidFill>
                  <a:srgbClr val="3D3D3D"/>
                </a:solidFill>
                <a:latin typeface="Tenor Sans"/>
                <a:ea typeface="Tenor Sans"/>
                <a:cs typeface="Tenor Sans"/>
                <a:sym typeface="Tenor Sans"/>
              </a:rPr>
              <a:t>R</a:t>
            </a:r>
            <a:r>
              <a:rPr lang="en-US" sz="2499">
                <a:solidFill>
                  <a:srgbClr val="3D3D3D"/>
                </a:solidFill>
                <a:latin typeface="Tenor Sans"/>
                <a:ea typeface="Tenor Sans"/>
                <a:cs typeface="Tenor Sans"/>
                <a:sym typeface="Tenor Sans"/>
              </a:rPr>
              <a:t>isiko utama proyek meliputi:</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Gangguan koneksi internet.</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Keterlambatan pengiriman hardware.</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Gagal sinkronisasi data.</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Keamanan akses QR Code.</a:t>
            </a:r>
          </a:p>
          <a:p>
            <a:pPr algn="l">
              <a:lnSpc>
                <a:spcPts val="3749"/>
              </a:lnSpc>
            </a:pPr>
            <a:r>
              <a:rPr lang="en-US" sz="2499">
                <a:solidFill>
                  <a:srgbClr val="3D3D3D"/>
                </a:solidFill>
                <a:latin typeface="Tenor Sans"/>
                <a:ea typeface="Tenor Sans"/>
                <a:cs typeface="Tenor Sans"/>
                <a:sym typeface="Tenor Sans"/>
              </a:rPr>
              <a:t>Mitigasi dilakukan dengan penggunaan buffer lokal, auto-retry, vendor cadangan, serta enkripsi VPN.</a:t>
            </a:r>
          </a:p>
          <a:p>
            <a:pPr algn="l">
              <a:lnSpc>
                <a:spcPts val="3749"/>
              </a:lnSpc>
            </a:pPr>
            <a:r>
              <a:rPr lang="en-US" sz="2499">
                <a:solidFill>
                  <a:srgbClr val="3D3D3D"/>
                </a:solidFill>
                <a:latin typeface="Tenor Sans"/>
                <a:ea typeface="Tenor Sans"/>
                <a:cs typeface="Tenor Sans"/>
                <a:sym typeface="Tenor Sans"/>
              </a:rPr>
              <a:t>Standar kualitas mengacu pada ISO/IEC 25010, dengan target:</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Uptime ≥99,5%.</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Download foto &lt;3 detik.</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Tidak ada kehilangan data.</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Bug kritis harus 0 sebelum Go-Live.</a:t>
            </a:r>
          </a:p>
          <a:p>
            <a:pPr algn="l">
              <a:lnSpc>
                <a:spcPts val="3749"/>
              </a:lnSpc>
            </a:pPr>
          </a:p>
        </p:txBody>
      </p:sp>
    </p:spTree>
  </p:cSld>
  <p:clrMapOvr>
    <a:masterClrMapping/>
  </p:clrMapOvr>
  <p:transition spd="slow">
    <p:push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0">
            <a:off x="8710334" y="-1312537"/>
            <a:ext cx="12912074" cy="1291207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5059584" y="534694"/>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354550" y="8255104"/>
            <a:ext cx="1427769" cy="1432980"/>
          </a:xfrm>
          <a:custGeom>
            <a:avLst/>
            <a:gdLst/>
            <a:ahLst/>
            <a:cxnLst/>
            <a:rect r="r" b="b" t="t" l="l"/>
            <a:pathLst>
              <a:path h="1432980" w="1427769">
                <a:moveTo>
                  <a:pt x="0" y="0"/>
                </a:moveTo>
                <a:lnTo>
                  <a:pt x="1427769" y="0"/>
                </a:lnTo>
                <a:lnTo>
                  <a:pt x="1427769" y="1432979"/>
                </a:lnTo>
                <a:lnTo>
                  <a:pt x="0" y="1432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5319653" y="895349"/>
            <a:ext cx="1939647" cy="266701"/>
          </a:xfrm>
          <a:custGeom>
            <a:avLst/>
            <a:gdLst/>
            <a:ahLst/>
            <a:cxnLst/>
            <a:rect r="r" b="b" t="t" l="l"/>
            <a:pathLst>
              <a:path h="266701" w="1939647">
                <a:moveTo>
                  <a:pt x="0" y="0"/>
                </a:moveTo>
                <a:lnTo>
                  <a:pt x="1939647" y="0"/>
                </a:lnTo>
                <a:lnTo>
                  <a:pt x="1939647" y="266702"/>
                </a:lnTo>
                <a:lnTo>
                  <a:pt x="0" y="26670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0" y="8904919"/>
            <a:ext cx="1382081" cy="1382081"/>
          </a:xfrm>
          <a:custGeom>
            <a:avLst/>
            <a:gdLst/>
            <a:ahLst/>
            <a:cxnLst/>
            <a:rect r="r" b="b" t="t" l="l"/>
            <a:pathLst>
              <a:path h="1382081" w="1382081">
                <a:moveTo>
                  <a:pt x="0" y="0"/>
                </a:moveTo>
                <a:lnTo>
                  <a:pt x="1382081" y="0"/>
                </a:lnTo>
                <a:lnTo>
                  <a:pt x="1382081" y="1382081"/>
                </a:lnTo>
                <a:lnTo>
                  <a:pt x="0" y="13820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94120">
            <a:off x="-1083462" y="23322"/>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TextBox 10" id="10"/>
          <p:cNvSpPr txBox="true"/>
          <p:nvPr/>
        </p:nvSpPr>
        <p:spPr>
          <a:xfrm rot="0">
            <a:off x="9144000" y="740718"/>
            <a:ext cx="6492597" cy="1621125"/>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SDM, Ko</a:t>
            </a:r>
            <a:r>
              <a:rPr lang="en-US" sz="5791">
                <a:solidFill>
                  <a:srgbClr val="3D3D3D"/>
                </a:solidFill>
                <a:latin typeface="Chau Philomene"/>
                <a:ea typeface="Chau Philomene"/>
                <a:cs typeface="Chau Philomene"/>
                <a:sym typeface="Chau Philomene"/>
              </a:rPr>
              <a:t>munikasi dan Pengadaan</a:t>
            </a:r>
          </a:p>
        </p:txBody>
      </p:sp>
      <p:sp>
        <p:nvSpPr>
          <p:cNvPr name="TextBox 11" id="11"/>
          <p:cNvSpPr txBox="true"/>
          <p:nvPr/>
        </p:nvSpPr>
        <p:spPr>
          <a:xfrm rot="0">
            <a:off x="9117681" y="2583718"/>
            <a:ext cx="7856275" cy="7141732"/>
          </a:xfrm>
          <a:prstGeom prst="rect">
            <a:avLst/>
          </a:prstGeom>
        </p:spPr>
        <p:txBody>
          <a:bodyPr anchor="t" rtlCol="false" tIns="0" lIns="0" bIns="0" rIns="0">
            <a:spAutoFit/>
          </a:bodyPr>
          <a:lstStyle/>
          <a:p>
            <a:pPr algn="just">
              <a:lnSpc>
                <a:spcPts val="4499"/>
              </a:lnSpc>
            </a:pPr>
            <a:r>
              <a:rPr lang="en-US" sz="2999">
                <a:solidFill>
                  <a:srgbClr val="3D3D3D"/>
                </a:solidFill>
                <a:latin typeface="Tenor Sans"/>
                <a:ea typeface="Tenor Sans"/>
                <a:cs typeface="Tenor Sans"/>
                <a:sym typeface="Tenor Sans"/>
              </a:rPr>
              <a:t>Tim p</a:t>
            </a:r>
            <a:r>
              <a:rPr lang="en-US" sz="2999">
                <a:solidFill>
                  <a:srgbClr val="3D3D3D"/>
                </a:solidFill>
                <a:latin typeface="Tenor Sans"/>
                <a:ea typeface="Tenor Sans"/>
                <a:cs typeface="Tenor Sans"/>
                <a:sym typeface="Tenor Sans"/>
              </a:rPr>
              <a:t>royek terdiri dari Project Manager, Sponsor, Manager Operasional, Tim Spesialis Jaringan, dan Teknisi Maintenance.</a:t>
            </a:r>
          </a:p>
          <a:p>
            <a:pPr algn="just">
              <a:lnSpc>
                <a:spcPts val="4499"/>
              </a:lnSpc>
            </a:pPr>
            <a:r>
              <a:rPr lang="en-US" sz="2999">
                <a:solidFill>
                  <a:srgbClr val="3D3D3D"/>
                </a:solidFill>
                <a:latin typeface="Tenor Sans"/>
                <a:ea typeface="Tenor Sans"/>
                <a:cs typeface="Tenor Sans"/>
                <a:sym typeface="Tenor Sans"/>
              </a:rPr>
              <a:t>Komunikasi dilakukan melalui:</a:t>
            </a:r>
          </a:p>
          <a:p>
            <a:pPr algn="just" marL="647697" indent="-323848" lvl="1">
              <a:lnSpc>
                <a:spcPts val="4499"/>
              </a:lnSpc>
              <a:buFont typeface="Arial"/>
              <a:buChar char="•"/>
            </a:pPr>
            <a:r>
              <a:rPr lang="en-US" sz="2999">
                <a:solidFill>
                  <a:srgbClr val="3D3D3D"/>
                </a:solidFill>
                <a:latin typeface="Tenor Sans"/>
                <a:ea typeface="Tenor Sans"/>
                <a:cs typeface="Tenor Sans"/>
                <a:sym typeface="Tenor Sans"/>
              </a:rPr>
              <a:t>Kick-off meeting.</a:t>
            </a:r>
          </a:p>
          <a:p>
            <a:pPr algn="just" marL="647697" indent="-323848" lvl="1">
              <a:lnSpc>
                <a:spcPts val="4499"/>
              </a:lnSpc>
              <a:buFont typeface="Arial"/>
              <a:buChar char="•"/>
            </a:pPr>
            <a:r>
              <a:rPr lang="en-US" sz="2999">
                <a:solidFill>
                  <a:srgbClr val="3D3D3D"/>
                </a:solidFill>
                <a:latin typeface="Tenor Sans"/>
                <a:ea typeface="Tenor Sans"/>
                <a:cs typeface="Tenor Sans"/>
                <a:sym typeface="Tenor Sans"/>
              </a:rPr>
              <a:t>Laporan mingguan.</a:t>
            </a:r>
          </a:p>
          <a:p>
            <a:pPr algn="just" marL="647697" indent="-323848" lvl="1">
              <a:lnSpc>
                <a:spcPts val="4499"/>
              </a:lnSpc>
              <a:buFont typeface="Arial"/>
              <a:buChar char="•"/>
            </a:pPr>
            <a:r>
              <a:rPr lang="en-US" sz="2999">
                <a:solidFill>
                  <a:srgbClr val="3D3D3D"/>
                </a:solidFill>
                <a:latin typeface="Tenor Sans"/>
                <a:ea typeface="Tenor Sans"/>
                <a:cs typeface="Tenor Sans"/>
                <a:sym typeface="Tenor Sans"/>
              </a:rPr>
              <a:t>Koordinasi harian saat instalasi.</a:t>
            </a:r>
          </a:p>
          <a:p>
            <a:pPr algn="just" marL="647697" indent="-323848" lvl="1">
              <a:lnSpc>
                <a:spcPts val="4499"/>
              </a:lnSpc>
              <a:buFont typeface="Arial"/>
              <a:buChar char="•"/>
            </a:pPr>
            <a:r>
              <a:rPr lang="en-US" sz="2999">
                <a:solidFill>
                  <a:srgbClr val="3D3D3D"/>
                </a:solidFill>
                <a:latin typeface="Tenor Sans"/>
                <a:ea typeface="Tenor Sans"/>
                <a:cs typeface="Tenor Sans"/>
                <a:sym typeface="Tenor Sans"/>
              </a:rPr>
              <a:t>Laporan akhir proyek.</a:t>
            </a:r>
          </a:p>
          <a:p>
            <a:pPr algn="just">
              <a:lnSpc>
                <a:spcPts val="4499"/>
              </a:lnSpc>
            </a:pPr>
            <a:r>
              <a:rPr lang="en-US" sz="2999">
                <a:solidFill>
                  <a:srgbClr val="3D3D3D"/>
                </a:solidFill>
                <a:latin typeface="Tenor Sans"/>
                <a:ea typeface="Tenor Sans"/>
                <a:cs typeface="Tenor Sans"/>
                <a:sym typeface="Tenor Sans"/>
              </a:rPr>
              <a:t>Pengadaan menggunakan kontrak Fixed Price agar biaya lebih pasti dan mudah dikendalikan.</a:t>
            </a:r>
          </a:p>
          <a:p>
            <a:pPr algn="just">
              <a:lnSpc>
                <a:spcPts val="3158"/>
              </a:lnSpc>
            </a:pPr>
          </a:p>
        </p:txBody>
      </p:sp>
      <p:sp>
        <p:nvSpPr>
          <p:cNvPr name="Freeform 12" id="12"/>
          <p:cNvSpPr/>
          <p:nvPr/>
        </p:nvSpPr>
        <p:spPr>
          <a:xfrm flipH="false" flipV="false" rot="0">
            <a:off x="1382081" y="1737402"/>
            <a:ext cx="7355005" cy="7181159"/>
          </a:xfrm>
          <a:custGeom>
            <a:avLst/>
            <a:gdLst/>
            <a:ahLst/>
            <a:cxnLst/>
            <a:rect r="r" b="b" t="t" l="l"/>
            <a:pathLst>
              <a:path h="7181159" w="7355005">
                <a:moveTo>
                  <a:pt x="0" y="0"/>
                </a:moveTo>
                <a:lnTo>
                  <a:pt x="7355005" y="0"/>
                </a:lnTo>
                <a:lnTo>
                  <a:pt x="7355005" y="7181159"/>
                </a:lnTo>
                <a:lnTo>
                  <a:pt x="0" y="718115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transition spd="slow">
    <p:push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145198" y="0"/>
            <a:ext cx="2142802" cy="2142802"/>
          </a:xfrm>
          <a:custGeom>
            <a:avLst/>
            <a:gdLst/>
            <a:ahLst/>
            <a:cxnLst/>
            <a:rect r="r" b="b" t="t" l="l"/>
            <a:pathLst>
              <a:path h="2142802" w="2142802">
                <a:moveTo>
                  <a:pt x="0" y="0"/>
                </a:moveTo>
                <a:lnTo>
                  <a:pt x="2142802" y="0"/>
                </a:lnTo>
                <a:lnTo>
                  <a:pt x="2142802" y="2142802"/>
                </a:lnTo>
                <a:lnTo>
                  <a:pt x="0" y="2142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3" id="3"/>
          <p:cNvSpPr/>
          <p:nvPr/>
        </p:nvSpPr>
        <p:spPr>
          <a:xfrm flipH="false" flipV="false" rot="-2194120">
            <a:off x="17042190" y="5510453"/>
            <a:ext cx="3549006" cy="1772928"/>
          </a:xfrm>
          <a:custGeom>
            <a:avLst/>
            <a:gdLst/>
            <a:ahLst/>
            <a:cxnLst/>
            <a:rect r="r" b="b" t="t" l="l"/>
            <a:pathLst>
              <a:path h="1772928" w="3549006">
                <a:moveTo>
                  <a:pt x="0" y="0"/>
                </a:moveTo>
                <a:lnTo>
                  <a:pt x="3549005" y="0"/>
                </a:lnTo>
                <a:lnTo>
                  <a:pt x="3549005"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713261">
            <a:off x="-1774503" y="691455"/>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863369" y="7044736"/>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32104" y="-362268"/>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434720" y="9258300"/>
            <a:ext cx="19251412" cy="1580516"/>
            <a:chOff x="0" y="0"/>
            <a:chExt cx="5070331" cy="416268"/>
          </a:xfrm>
        </p:grpSpPr>
        <p:sp>
          <p:nvSpPr>
            <p:cNvPr name="Freeform 8" id="8"/>
            <p:cNvSpPr/>
            <p:nvPr/>
          </p:nvSpPr>
          <p:spPr>
            <a:xfrm flipH="false" flipV="false" rot="0">
              <a:off x="0" y="0"/>
              <a:ext cx="5070331" cy="416268"/>
            </a:xfrm>
            <a:custGeom>
              <a:avLst/>
              <a:gdLst/>
              <a:ahLst/>
              <a:cxnLst/>
              <a:rect r="r" b="b" t="t" l="l"/>
              <a:pathLst>
                <a:path h="416268" w="5070331">
                  <a:moveTo>
                    <a:pt x="0" y="0"/>
                  </a:moveTo>
                  <a:lnTo>
                    <a:pt x="5070331" y="0"/>
                  </a:lnTo>
                  <a:lnTo>
                    <a:pt x="5070331" y="416268"/>
                  </a:lnTo>
                  <a:lnTo>
                    <a:pt x="0" y="416268"/>
                  </a:lnTo>
                  <a:close/>
                </a:path>
              </a:pathLst>
            </a:custGeom>
            <a:solidFill>
              <a:srgbClr val="FFFFFF"/>
            </a:solidFill>
            <a:ln cap="sq">
              <a:noFill/>
              <a:prstDash val="solid"/>
              <a:miter/>
            </a:ln>
          </p:spPr>
        </p:sp>
        <p:sp>
          <p:nvSpPr>
            <p:cNvPr name="TextBox 9" id="9"/>
            <p:cNvSpPr txBox="true"/>
            <p:nvPr/>
          </p:nvSpPr>
          <p:spPr>
            <a:xfrm>
              <a:off x="0" y="-38100"/>
              <a:ext cx="5070331" cy="4543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10" id="10"/>
          <p:cNvSpPr txBox="true"/>
          <p:nvPr/>
        </p:nvSpPr>
        <p:spPr>
          <a:xfrm rot="0">
            <a:off x="1416523" y="1394886"/>
            <a:ext cx="6581856" cy="1621125"/>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Implementasi dan Manajeme</a:t>
            </a:r>
            <a:r>
              <a:rPr lang="en-US" sz="5791">
                <a:solidFill>
                  <a:srgbClr val="3D3D3D"/>
                </a:solidFill>
                <a:latin typeface="Chau Philomene"/>
                <a:ea typeface="Chau Philomene"/>
                <a:cs typeface="Chau Philomene"/>
                <a:sym typeface="Chau Philomene"/>
              </a:rPr>
              <a:t>n Perubahan</a:t>
            </a:r>
          </a:p>
        </p:txBody>
      </p:sp>
      <p:sp>
        <p:nvSpPr>
          <p:cNvPr name="TextBox 11" id="11"/>
          <p:cNvSpPr txBox="true"/>
          <p:nvPr/>
        </p:nvSpPr>
        <p:spPr>
          <a:xfrm rot="0">
            <a:off x="1124714" y="3152029"/>
            <a:ext cx="7165473" cy="5532006"/>
          </a:xfrm>
          <a:prstGeom prst="rect">
            <a:avLst/>
          </a:prstGeom>
        </p:spPr>
        <p:txBody>
          <a:bodyPr anchor="t" rtlCol="false" tIns="0" lIns="0" bIns="0" rIns="0">
            <a:spAutoFit/>
          </a:bodyPr>
          <a:lstStyle/>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Strateg</a:t>
            </a:r>
            <a:r>
              <a:rPr lang="en-US" sz="2499">
                <a:solidFill>
                  <a:srgbClr val="3D3D3D"/>
                </a:solidFill>
                <a:latin typeface="Tenor Sans"/>
                <a:ea typeface="Tenor Sans"/>
                <a:cs typeface="Tenor Sans"/>
                <a:sym typeface="Tenor Sans"/>
              </a:rPr>
              <a:t>i deployment menggunakan Phased Deployment, yaitu instalasi dilakukan bertahap mulai dari </a:t>
            </a:r>
            <a:r>
              <a:rPr lang="en-US" sz="2499">
                <a:solidFill>
                  <a:srgbClr val="3D3D3D"/>
                </a:solidFill>
                <a:latin typeface="Tenor Sans"/>
                <a:ea typeface="Tenor Sans"/>
                <a:cs typeface="Tenor Sans"/>
                <a:sym typeface="Tenor Sans"/>
              </a:rPr>
              <a:t>M</a:t>
            </a:r>
            <a:r>
              <a:rPr lang="en-US" sz="2499">
                <a:solidFill>
                  <a:srgbClr val="3D3D3D"/>
                </a:solidFill>
                <a:latin typeface="Tenor Sans"/>
                <a:ea typeface="Tenor Sans"/>
                <a:cs typeface="Tenor Sans"/>
                <a:sym typeface="Tenor Sans"/>
              </a:rPr>
              <a:t>all BSD, kemudian dilanjutkan ke Mall Ciputra dan Sup</a:t>
            </a:r>
            <a:r>
              <a:rPr lang="en-US" sz="2499">
                <a:solidFill>
                  <a:srgbClr val="3D3D3D"/>
                </a:solidFill>
                <a:latin typeface="Tenor Sans"/>
                <a:ea typeface="Tenor Sans"/>
                <a:cs typeface="Tenor Sans"/>
                <a:sym typeface="Tenor Sans"/>
              </a:rPr>
              <a:t>erm</a:t>
            </a:r>
            <a:r>
              <a:rPr lang="en-US" sz="2499">
                <a:solidFill>
                  <a:srgbClr val="3D3D3D"/>
                </a:solidFill>
                <a:latin typeface="Tenor Sans"/>
                <a:ea typeface="Tenor Sans"/>
                <a:cs typeface="Tenor Sans"/>
                <a:sym typeface="Tenor Sans"/>
              </a:rPr>
              <a:t>al Karawaci.</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Data lama dipindahkan ke cloud secara bertahap, sedangkan PC lokal hanya menjadi penyimpanan sementara.</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Teknisi dan manager operasional juga diberikan pelatihan agar dapat mengoperasikan sistem baru dengan baik.</a:t>
            </a:r>
          </a:p>
          <a:p>
            <a:pPr algn="l">
              <a:lnSpc>
                <a:spcPts val="3158"/>
              </a:lnSpc>
            </a:pPr>
          </a:p>
        </p:txBody>
      </p:sp>
      <p:sp>
        <p:nvSpPr>
          <p:cNvPr name="Freeform 12" id="12"/>
          <p:cNvSpPr/>
          <p:nvPr/>
        </p:nvSpPr>
        <p:spPr>
          <a:xfrm flipH="false" flipV="false" rot="0">
            <a:off x="494458" y="9661614"/>
            <a:ext cx="1844128" cy="253568"/>
          </a:xfrm>
          <a:custGeom>
            <a:avLst/>
            <a:gdLst/>
            <a:ahLst/>
            <a:cxnLst/>
            <a:rect r="r" b="b" t="t" l="l"/>
            <a:pathLst>
              <a:path h="253568" w="1844128">
                <a:moveTo>
                  <a:pt x="0" y="0"/>
                </a:moveTo>
                <a:lnTo>
                  <a:pt x="1844129" y="0"/>
                </a:lnTo>
                <a:lnTo>
                  <a:pt x="1844129" y="253567"/>
                </a:lnTo>
                <a:lnTo>
                  <a:pt x="0" y="2535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3" id="13"/>
          <p:cNvSpPr/>
          <p:nvPr/>
        </p:nvSpPr>
        <p:spPr>
          <a:xfrm flipH="false" flipV="false" rot="0">
            <a:off x="9577055" y="2176873"/>
            <a:ext cx="7299817" cy="6264570"/>
          </a:xfrm>
          <a:custGeom>
            <a:avLst/>
            <a:gdLst/>
            <a:ahLst/>
            <a:cxnLst/>
            <a:rect r="r" b="b" t="t" l="l"/>
            <a:pathLst>
              <a:path h="6264570" w="7299817">
                <a:moveTo>
                  <a:pt x="0" y="0"/>
                </a:moveTo>
                <a:lnTo>
                  <a:pt x="7299817" y="0"/>
                </a:lnTo>
                <a:lnTo>
                  <a:pt x="7299817" y="6264571"/>
                </a:lnTo>
                <a:lnTo>
                  <a:pt x="0" y="62645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transition spd="slow">
    <p:push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5400000">
            <a:off x="12598060" y="4568900"/>
            <a:ext cx="10948564" cy="1149200"/>
            <a:chOff x="0" y="0"/>
            <a:chExt cx="2883572" cy="302670"/>
          </a:xfrm>
        </p:grpSpPr>
        <p:sp>
          <p:nvSpPr>
            <p:cNvPr name="Freeform 3" id="3"/>
            <p:cNvSpPr/>
            <p:nvPr/>
          </p:nvSpPr>
          <p:spPr>
            <a:xfrm flipH="false" flipV="false" rot="0">
              <a:off x="0" y="0"/>
              <a:ext cx="2883572" cy="302670"/>
            </a:xfrm>
            <a:custGeom>
              <a:avLst/>
              <a:gdLst/>
              <a:ahLst/>
              <a:cxnLst/>
              <a:rect r="r" b="b" t="t" l="l"/>
              <a:pathLst>
                <a:path h="302670" w="2883572">
                  <a:moveTo>
                    <a:pt x="0" y="0"/>
                  </a:moveTo>
                  <a:lnTo>
                    <a:pt x="2883572" y="0"/>
                  </a:lnTo>
                  <a:lnTo>
                    <a:pt x="2883572" y="302670"/>
                  </a:lnTo>
                  <a:lnTo>
                    <a:pt x="0" y="302670"/>
                  </a:lnTo>
                  <a:close/>
                </a:path>
              </a:pathLst>
            </a:custGeom>
            <a:solidFill>
              <a:srgbClr val="B22F30"/>
            </a:solidFill>
            <a:ln cap="sq">
              <a:noFill/>
              <a:prstDash val="solid"/>
              <a:miter/>
            </a:ln>
          </p:spPr>
        </p:sp>
        <p:sp>
          <p:nvSpPr>
            <p:cNvPr name="TextBox 4" id="4"/>
            <p:cNvSpPr txBox="true"/>
            <p:nvPr/>
          </p:nvSpPr>
          <p:spPr>
            <a:xfrm>
              <a:off x="0" y="-38100"/>
              <a:ext cx="2883572" cy="34077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5" id="5"/>
          <p:cNvSpPr txBox="true"/>
          <p:nvPr/>
        </p:nvSpPr>
        <p:spPr>
          <a:xfrm rot="0">
            <a:off x="4783300" y="1035389"/>
            <a:ext cx="7898887" cy="818763"/>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EVM dan</a:t>
            </a:r>
            <a:r>
              <a:rPr lang="en-US" sz="5791">
                <a:solidFill>
                  <a:srgbClr val="3D3D3D"/>
                </a:solidFill>
                <a:latin typeface="Chau Philomene"/>
                <a:ea typeface="Chau Philomene"/>
                <a:cs typeface="Chau Philomene"/>
                <a:sym typeface="Chau Philomene"/>
              </a:rPr>
              <a:t> Penutupan Proyek</a:t>
            </a:r>
          </a:p>
        </p:txBody>
      </p:sp>
      <p:sp>
        <p:nvSpPr>
          <p:cNvPr name="TextBox 6" id="6"/>
          <p:cNvSpPr txBox="true"/>
          <p:nvPr/>
        </p:nvSpPr>
        <p:spPr>
          <a:xfrm rot="0">
            <a:off x="8820414" y="2329237"/>
            <a:ext cx="6717596" cy="5998731"/>
          </a:xfrm>
          <a:prstGeom prst="rect">
            <a:avLst/>
          </a:prstGeom>
        </p:spPr>
        <p:txBody>
          <a:bodyPr anchor="t" rtlCol="false" tIns="0" lIns="0" bIns="0" rIns="0">
            <a:spAutoFit/>
          </a:bodyPr>
          <a:lstStyle/>
          <a:p>
            <a:pPr algn="l">
              <a:lnSpc>
                <a:spcPts val="3749"/>
              </a:lnSpc>
            </a:pPr>
            <a:r>
              <a:rPr lang="en-US" sz="2499">
                <a:solidFill>
                  <a:srgbClr val="3D3D3D"/>
                </a:solidFill>
                <a:latin typeface="Tenor Sans"/>
                <a:ea typeface="Tenor Sans"/>
                <a:cs typeface="Tenor Sans"/>
                <a:sym typeface="Tenor Sans"/>
              </a:rPr>
              <a:t>Anal</a:t>
            </a:r>
            <a:r>
              <a:rPr lang="en-US" sz="2499">
                <a:solidFill>
                  <a:srgbClr val="3D3D3D"/>
                </a:solidFill>
                <a:latin typeface="Tenor Sans"/>
                <a:ea typeface="Tenor Sans"/>
                <a:cs typeface="Tenor Sans"/>
                <a:sym typeface="Tenor Sans"/>
              </a:rPr>
              <a:t>isis Earned Value Management menunjukkan bahwa proyek studi kasus berada dalam kondisi:</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Terlambat dari jadwal (SPI = 0,75).</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Melebihi anggaran (CPI = 0,833).</a:t>
            </a:r>
          </a:p>
          <a:p>
            <a:pPr algn="l">
              <a:lnSpc>
                <a:spcPts val="3749"/>
              </a:lnSpc>
            </a:pPr>
            <a:r>
              <a:rPr lang="en-US" sz="2499">
                <a:solidFill>
                  <a:srgbClr val="3D3D3D"/>
                </a:solidFill>
                <a:latin typeface="Tenor Sans"/>
                <a:ea typeface="Tenor Sans"/>
                <a:cs typeface="Tenor Sans"/>
                <a:sym typeface="Tenor Sans"/>
              </a:rPr>
              <a:t>Pada tahap penutupan dilakukan:</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Serah terima sistem.</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Dokumentasi lengkap.</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Evaluasi proyek.</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Penyusunan lessons learned.</a:t>
            </a:r>
          </a:p>
          <a:p>
            <a:pPr algn="l" marL="539749" indent="-269875" lvl="1">
              <a:lnSpc>
                <a:spcPts val="3749"/>
              </a:lnSpc>
              <a:buFont typeface="Arial"/>
              <a:buChar char="•"/>
            </a:pPr>
            <a:r>
              <a:rPr lang="en-US" sz="2499">
                <a:solidFill>
                  <a:srgbClr val="3D3D3D"/>
                </a:solidFill>
                <a:latin typeface="Tenor Sans"/>
                <a:ea typeface="Tenor Sans"/>
                <a:cs typeface="Tenor Sans"/>
                <a:sym typeface="Tenor Sans"/>
              </a:rPr>
              <a:t>Rencana pemeliharaan untuk menjaga sistem tetap berjalan optimal.</a:t>
            </a:r>
          </a:p>
          <a:p>
            <a:pPr algn="l">
              <a:lnSpc>
                <a:spcPts val="3158"/>
              </a:lnSpc>
            </a:pPr>
          </a:p>
        </p:txBody>
      </p:sp>
      <p:sp>
        <p:nvSpPr>
          <p:cNvPr name="Freeform 7" id="7"/>
          <p:cNvSpPr/>
          <p:nvPr/>
        </p:nvSpPr>
        <p:spPr>
          <a:xfrm flipH="false" flipV="false" rot="-5400000">
            <a:off x="0" y="-73325"/>
            <a:ext cx="1927476" cy="1927476"/>
          </a:xfrm>
          <a:custGeom>
            <a:avLst/>
            <a:gdLst/>
            <a:ahLst/>
            <a:cxnLst/>
            <a:rect r="r" b="b" t="t" l="l"/>
            <a:pathLst>
              <a:path h="1927476" w="1927476">
                <a:moveTo>
                  <a:pt x="0" y="0"/>
                </a:moveTo>
                <a:lnTo>
                  <a:pt x="1927476" y="0"/>
                </a:lnTo>
                <a:lnTo>
                  <a:pt x="1927476" y="1927476"/>
                </a:lnTo>
                <a:lnTo>
                  <a:pt x="0" y="192747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8160907">
            <a:off x="-1141487" y="8614376"/>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5538011" y="750742"/>
            <a:ext cx="1099397" cy="1103409"/>
          </a:xfrm>
          <a:custGeom>
            <a:avLst/>
            <a:gdLst/>
            <a:ahLst/>
            <a:cxnLst/>
            <a:rect r="r" b="b" t="t" l="l"/>
            <a:pathLst>
              <a:path h="1103409" w="1099397">
                <a:moveTo>
                  <a:pt x="0" y="0"/>
                </a:moveTo>
                <a:lnTo>
                  <a:pt x="1099396" y="0"/>
                </a:lnTo>
                <a:lnTo>
                  <a:pt x="1099396" y="1103409"/>
                </a:lnTo>
                <a:lnTo>
                  <a:pt x="0" y="110340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false" rot="0">
            <a:off x="14793279" y="9247272"/>
            <a:ext cx="1844128" cy="253568"/>
          </a:xfrm>
          <a:custGeom>
            <a:avLst/>
            <a:gdLst/>
            <a:ahLst/>
            <a:cxnLst/>
            <a:rect r="r" b="b" t="t" l="l"/>
            <a:pathLst>
              <a:path h="253568" w="1844128">
                <a:moveTo>
                  <a:pt x="0" y="0"/>
                </a:moveTo>
                <a:lnTo>
                  <a:pt x="1844128" y="0"/>
                </a:lnTo>
                <a:lnTo>
                  <a:pt x="1844128" y="253568"/>
                </a:lnTo>
                <a:lnTo>
                  <a:pt x="0" y="2535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1" id="11"/>
          <p:cNvSpPr/>
          <p:nvPr/>
        </p:nvSpPr>
        <p:spPr>
          <a:xfrm flipH="false" flipV="false" rot="0">
            <a:off x="1531590" y="2414962"/>
            <a:ext cx="7054649" cy="6246571"/>
          </a:xfrm>
          <a:custGeom>
            <a:avLst/>
            <a:gdLst/>
            <a:ahLst/>
            <a:cxnLst/>
            <a:rect r="r" b="b" t="t" l="l"/>
            <a:pathLst>
              <a:path h="6246571" w="7054649">
                <a:moveTo>
                  <a:pt x="0" y="0"/>
                </a:moveTo>
                <a:lnTo>
                  <a:pt x="7054649" y="0"/>
                </a:lnTo>
                <a:lnTo>
                  <a:pt x="7054649" y="6246571"/>
                </a:lnTo>
                <a:lnTo>
                  <a:pt x="0" y="624657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Tree>
  </p:cSld>
  <p:clrMapOvr>
    <a:masterClrMapping/>
  </p:clrMapOvr>
  <p:transition spd="slow">
    <p:push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6145198" y="0"/>
            <a:ext cx="2142802" cy="2142802"/>
          </a:xfrm>
          <a:custGeom>
            <a:avLst/>
            <a:gdLst/>
            <a:ahLst/>
            <a:cxnLst/>
            <a:rect r="r" b="b" t="t" l="l"/>
            <a:pathLst>
              <a:path h="2142802" w="2142802">
                <a:moveTo>
                  <a:pt x="0" y="0"/>
                </a:moveTo>
                <a:lnTo>
                  <a:pt x="2142802" y="0"/>
                </a:lnTo>
                <a:lnTo>
                  <a:pt x="2142802" y="2142802"/>
                </a:lnTo>
                <a:lnTo>
                  <a:pt x="0" y="21428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194120">
            <a:off x="17042190" y="5510453"/>
            <a:ext cx="3549006" cy="1772928"/>
          </a:xfrm>
          <a:custGeom>
            <a:avLst/>
            <a:gdLst/>
            <a:ahLst/>
            <a:cxnLst/>
            <a:rect r="r" b="b" t="t" l="l"/>
            <a:pathLst>
              <a:path h="1772928" w="3549006">
                <a:moveTo>
                  <a:pt x="0" y="0"/>
                </a:moveTo>
                <a:lnTo>
                  <a:pt x="3549005" y="0"/>
                </a:lnTo>
                <a:lnTo>
                  <a:pt x="3549005"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7713261">
            <a:off x="-1774503" y="691455"/>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6863369" y="7044736"/>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432104" y="-362268"/>
            <a:ext cx="984419" cy="988012"/>
          </a:xfrm>
          <a:custGeom>
            <a:avLst/>
            <a:gdLst/>
            <a:ahLst/>
            <a:cxnLst/>
            <a:rect r="r" b="b" t="t" l="l"/>
            <a:pathLst>
              <a:path h="988012" w="984419">
                <a:moveTo>
                  <a:pt x="0" y="0"/>
                </a:moveTo>
                <a:lnTo>
                  <a:pt x="984419" y="0"/>
                </a:lnTo>
                <a:lnTo>
                  <a:pt x="984419" y="988012"/>
                </a:lnTo>
                <a:lnTo>
                  <a:pt x="0" y="98801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 id="7"/>
          <p:cNvGrpSpPr/>
          <p:nvPr/>
        </p:nvGrpSpPr>
        <p:grpSpPr>
          <a:xfrm rot="0">
            <a:off x="-434720" y="9258300"/>
            <a:ext cx="19251412" cy="1580516"/>
            <a:chOff x="0" y="0"/>
            <a:chExt cx="5070331" cy="416268"/>
          </a:xfrm>
        </p:grpSpPr>
        <p:sp>
          <p:nvSpPr>
            <p:cNvPr name="Freeform 8" id="8"/>
            <p:cNvSpPr/>
            <p:nvPr/>
          </p:nvSpPr>
          <p:spPr>
            <a:xfrm flipH="false" flipV="false" rot="0">
              <a:off x="0" y="0"/>
              <a:ext cx="5070331" cy="416268"/>
            </a:xfrm>
            <a:custGeom>
              <a:avLst/>
              <a:gdLst/>
              <a:ahLst/>
              <a:cxnLst/>
              <a:rect r="r" b="b" t="t" l="l"/>
              <a:pathLst>
                <a:path h="416268" w="5070331">
                  <a:moveTo>
                    <a:pt x="0" y="0"/>
                  </a:moveTo>
                  <a:lnTo>
                    <a:pt x="5070331" y="0"/>
                  </a:lnTo>
                  <a:lnTo>
                    <a:pt x="5070331" y="416268"/>
                  </a:lnTo>
                  <a:lnTo>
                    <a:pt x="0" y="416268"/>
                  </a:lnTo>
                  <a:close/>
                </a:path>
              </a:pathLst>
            </a:custGeom>
            <a:solidFill>
              <a:srgbClr val="FFFFFF"/>
            </a:solidFill>
            <a:ln cap="sq">
              <a:noFill/>
              <a:prstDash val="solid"/>
              <a:miter/>
            </a:ln>
          </p:spPr>
        </p:sp>
        <p:sp>
          <p:nvSpPr>
            <p:cNvPr name="TextBox 9" id="9"/>
            <p:cNvSpPr txBox="true"/>
            <p:nvPr/>
          </p:nvSpPr>
          <p:spPr>
            <a:xfrm>
              <a:off x="0" y="-38100"/>
              <a:ext cx="5070331" cy="45436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0" id="10"/>
          <p:cNvSpPr/>
          <p:nvPr/>
        </p:nvSpPr>
        <p:spPr>
          <a:xfrm flipH="false" flipV="false" rot="0">
            <a:off x="494458" y="9661614"/>
            <a:ext cx="1844128" cy="253568"/>
          </a:xfrm>
          <a:custGeom>
            <a:avLst/>
            <a:gdLst/>
            <a:ahLst/>
            <a:cxnLst/>
            <a:rect r="r" b="b" t="t" l="l"/>
            <a:pathLst>
              <a:path h="253568" w="1844128">
                <a:moveTo>
                  <a:pt x="0" y="0"/>
                </a:moveTo>
                <a:lnTo>
                  <a:pt x="1844129" y="0"/>
                </a:lnTo>
                <a:lnTo>
                  <a:pt x="1844129" y="253567"/>
                </a:lnTo>
                <a:lnTo>
                  <a:pt x="0" y="25356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TextBox 11" id="11"/>
          <p:cNvSpPr txBox="true"/>
          <p:nvPr/>
        </p:nvSpPr>
        <p:spPr>
          <a:xfrm rot="0">
            <a:off x="6762281" y="1085850"/>
            <a:ext cx="5809841" cy="818763"/>
          </a:xfrm>
          <a:prstGeom prst="rect">
            <a:avLst/>
          </a:prstGeom>
        </p:spPr>
        <p:txBody>
          <a:bodyPr anchor="t" rtlCol="false" tIns="0" lIns="0" bIns="0" rIns="0">
            <a:spAutoFit/>
          </a:bodyPr>
          <a:lstStyle/>
          <a:p>
            <a:pPr algn="l">
              <a:lnSpc>
                <a:spcPts val="6370"/>
              </a:lnSpc>
            </a:pPr>
            <a:r>
              <a:rPr lang="en-US" sz="5791">
                <a:solidFill>
                  <a:srgbClr val="3D3D3D"/>
                </a:solidFill>
                <a:latin typeface="Chau Philomene"/>
                <a:ea typeface="Chau Philomene"/>
                <a:cs typeface="Chau Philomene"/>
                <a:sym typeface="Chau Philomene"/>
              </a:rPr>
              <a:t>Kesimpulan</a:t>
            </a:r>
          </a:p>
        </p:txBody>
      </p:sp>
      <p:sp>
        <p:nvSpPr>
          <p:cNvPr name="TextBox 12" id="12"/>
          <p:cNvSpPr txBox="true"/>
          <p:nvPr/>
        </p:nvSpPr>
        <p:spPr>
          <a:xfrm rot="0">
            <a:off x="3360967" y="2193923"/>
            <a:ext cx="10741829" cy="5972175"/>
          </a:xfrm>
          <a:prstGeom prst="rect">
            <a:avLst/>
          </a:prstGeom>
        </p:spPr>
        <p:txBody>
          <a:bodyPr anchor="t" rtlCol="false" tIns="0" lIns="0" bIns="0" rIns="0">
            <a:spAutoFit/>
          </a:bodyPr>
          <a:lstStyle/>
          <a:p>
            <a:pPr algn="l">
              <a:lnSpc>
                <a:spcPts val="5250"/>
              </a:lnSpc>
            </a:pPr>
            <a:r>
              <a:rPr lang="en-US" sz="3500">
                <a:solidFill>
                  <a:srgbClr val="3D3D3D"/>
                </a:solidFill>
                <a:latin typeface="Tenor Sans"/>
                <a:ea typeface="Tenor Sans"/>
                <a:cs typeface="Tenor Sans"/>
                <a:sym typeface="Tenor Sans"/>
              </a:rPr>
              <a:t>Pr</a:t>
            </a:r>
            <a:r>
              <a:rPr lang="en-US" sz="3500">
                <a:solidFill>
                  <a:srgbClr val="3D3D3D"/>
                </a:solidFill>
                <a:latin typeface="Tenor Sans"/>
                <a:ea typeface="Tenor Sans"/>
                <a:cs typeface="Tenor Sans"/>
                <a:sym typeface="Tenor Sans"/>
              </a:rPr>
              <a:t>oyek pengadaan server dan infrastruktur cloud mampu menyelesaikan permasalahan penyimpanan pada MomentLab. Dengan server lokal, cloud storage, VPN, auto-sync, dan QR Code download, sistem menjadi lebih cepat, data lebih aman, serta pengalaman pelanggan meningkat. Berdasarkan analisis biaya, manfaat, risiko, dan kualitas, proyek ini dinilai layak untuk diterapkan.</a:t>
            </a:r>
          </a:p>
        </p:txBody>
      </p:sp>
    </p:spTree>
  </p:cSld>
  <p:clrMapOvr>
    <a:masterClrMapping/>
  </p:clrMapOvr>
  <p:transition spd="slow">
    <p:push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E1DA"/>
        </a:solidFill>
      </p:bgPr>
    </p:bg>
    <p:spTree>
      <p:nvGrpSpPr>
        <p:cNvPr id="1" name=""/>
        <p:cNvGrpSpPr/>
        <p:nvPr/>
      </p:nvGrpSpPr>
      <p:grpSpPr>
        <a:xfrm>
          <a:off x="0" y="0"/>
          <a:ext cx="0" cy="0"/>
          <a:chOff x="0" y="0"/>
          <a:chExt cx="0" cy="0"/>
        </a:xfrm>
      </p:grpSpPr>
      <p:grpSp>
        <p:nvGrpSpPr>
          <p:cNvPr name="Group 2" id="2"/>
          <p:cNvGrpSpPr/>
          <p:nvPr/>
        </p:nvGrpSpPr>
        <p:grpSpPr>
          <a:xfrm rot="0">
            <a:off x="-3072447" y="-1312537"/>
            <a:ext cx="12912074" cy="12912074"/>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8159581" y="914035"/>
            <a:ext cx="984419" cy="988012"/>
          </a:xfrm>
          <a:custGeom>
            <a:avLst/>
            <a:gdLst/>
            <a:ahLst/>
            <a:cxnLst/>
            <a:rect r="r" b="b" t="t" l="l"/>
            <a:pathLst>
              <a:path h="988012" w="984419">
                <a:moveTo>
                  <a:pt x="0" y="0"/>
                </a:moveTo>
                <a:lnTo>
                  <a:pt x="984419" y="0"/>
                </a:lnTo>
                <a:lnTo>
                  <a:pt x="984419" y="988011"/>
                </a:lnTo>
                <a:lnTo>
                  <a:pt x="0" y="9880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7354550" y="8255104"/>
            <a:ext cx="1427769" cy="1432980"/>
          </a:xfrm>
          <a:custGeom>
            <a:avLst/>
            <a:gdLst/>
            <a:ahLst/>
            <a:cxnLst/>
            <a:rect r="r" b="b" t="t" l="l"/>
            <a:pathLst>
              <a:path h="1432980" w="1427769">
                <a:moveTo>
                  <a:pt x="0" y="0"/>
                </a:moveTo>
                <a:lnTo>
                  <a:pt x="1427769" y="0"/>
                </a:lnTo>
                <a:lnTo>
                  <a:pt x="1427769" y="1432979"/>
                </a:lnTo>
                <a:lnTo>
                  <a:pt x="0" y="14329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7" id="7"/>
          <p:cNvSpPr/>
          <p:nvPr/>
        </p:nvSpPr>
        <p:spPr>
          <a:xfrm flipH="false" flipV="false" rot="0">
            <a:off x="1028700" y="8991599"/>
            <a:ext cx="1939647" cy="266701"/>
          </a:xfrm>
          <a:custGeom>
            <a:avLst/>
            <a:gdLst/>
            <a:ahLst/>
            <a:cxnLst/>
            <a:rect r="r" b="b" t="t" l="l"/>
            <a:pathLst>
              <a:path h="266701" w="1939647">
                <a:moveTo>
                  <a:pt x="0" y="0"/>
                </a:moveTo>
                <a:lnTo>
                  <a:pt x="1939647" y="0"/>
                </a:lnTo>
                <a:lnTo>
                  <a:pt x="1939647" y="266701"/>
                </a:lnTo>
                <a:lnTo>
                  <a:pt x="0" y="2667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400000">
            <a:off x="17220473" y="0"/>
            <a:ext cx="1067527" cy="1067527"/>
          </a:xfrm>
          <a:custGeom>
            <a:avLst/>
            <a:gdLst/>
            <a:ahLst/>
            <a:cxnLst/>
            <a:rect r="r" b="b" t="t" l="l"/>
            <a:pathLst>
              <a:path h="1067527" w="1067527">
                <a:moveTo>
                  <a:pt x="0" y="0"/>
                </a:moveTo>
                <a:lnTo>
                  <a:pt x="1067527" y="0"/>
                </a:lnTo>
                <a:lnTo>
                  <a:pt x="1067527" y="1067527"/>
                </a:lnTo>
                <a:lnTo>
                  <a:pt x="0" y="10675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2194120">
            <a:off x="-1083462" y="23322"/>
            <a:ext cx="3549006" cy="1772928"/>
          </a:xfrm>
          <a:custGeom>
            <a:avLst/>
            <a:gdLst/>
            <a:ahLst/>
            <a:cxnLst/>
            <a:rect r="r" b="b" t="t" l="l"/>
            <a:pathLst>
              <a:path h="1772928" w="3549006">
                <a:moveTo>
                  <a:pt x="0" y="0"/>
                </a:moveTo>
                <a:lnTo>
                  <a:pt x="3549006" y="0"/>
                </a:lnTo>
                <a:lnTo>
                  <a:pt x="3549006" y="1772928"/>
                </a:lnTo>
                <a:lnTo>
                  <a:pt x="0" y="177292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1390650" y="3994150"/>
            <a:ext cx="8810927" cy="1149350"/>
          </a:xfrm>
          <a:prstGeom prst="rect">
            <a:avLst/>
          </a:prstGeom>
        </p:spPr>
        <p:txBody>
          <a:bodyPr anchor="t" rtlCol="false" tIns="0" lIns="0" bIns="0" rIns="0">
            <a:spAutoFit/>
          </a:bodyPr>
          <a:lstStyle/>
          <a:p>
            <a:pPr algn="l">
              <a:lnSpc>
                <a:spcPts val="8800"/>
              </a:lnSpc>
            </a:pPr>
            <a:r>
              <a:rPr lang="en-US" sz="8000">
                <a:solidFill>
                  <a:srgbClr val="3D3D3D"/>
                </a:solidFill>
                <a:latin typeface="Chau Philomene"/>
                <a:ea typeface="Chau Philomene"/>
                <a:cs typeface="Chau Philomene"/>
                <a:sym typeface="Chau Philomene"/>
              </a:rPr>
              <a:t>Terima Kasih </a:t>
            </a:r>
          </a:p>
        </p:txBody>
      </p:sp>
      <p:sp>
        <p:nvSpPr>
          <p:cNvPr name="Freeform 11" id="11"/>
          <p:cNvSpPr/>
          <p:nvPr/>
        </p:nvSpPr>
        <p:spPr>
          <a:xfrm flipH="false" flipV="false" rot="0">
            <a:off x="10201577" y="1772196"/>
            <a:ext cx="7018896" cy="6482908"/>
          </a:xfrm>
          <a:custGeom>
            <a:avLst/>
            <a:gdLst/>
            <a:ahLst/>
            <a:cxnLst/>
            <a:rect r="r" b="b" t="t" l="l"/>
            <a:pathLst>
              <a:path h="6482908" w="7018896">
                <a:moveTo>
                  <a:pt x="0" y="0"/>
                </a:moveTo>
                <a:lnTo>
                  <a:pt x="7018896" y="0"/>
                </a:lnTo>
                <a:lnTo>
                  <a:pt x="7018896" y="6482908"/>
                </a:lnTo>
                <a:lnTo>
                  <a:pt x="0" y="648290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a:ln cap="sq">
            <a:noFill/>
            <a:prstDash val="solid"/>
            <a:miter/>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DAHQNUme5CI</dc:identifier>
  <dcterms:modified xsi:type="dcterms:W3CDTF">2011-08-01T06:04:30Z</dcterms:modified>
  <cp:revision>1</cp:revision>
  <dc:title>Presentasi MPSI </dc:title>
</cp:coreProperties>
</file>